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90" r:id="rId3"/>
    <p:sldId id="291" r:id="rId4"/>
    <p:sldId id="292" r:id="rId5"/>
    <p:sldId id="282" r:id="rId6"/>
    <p:sldId id="275" r:id="rId7"/>
    <p:sldId id="277" r:id="rId8"/>
    <p:sldId id="287" r:id="rId9"/>
    <p:sldId id="284" r:id="rId10"/>
    <p:sldId id="281" r:id="rId11"/>
    <p:sldId id="279" r:id="rId12"/>
    <p:sldId id="276" r:id="rId13"/>
    <p:sldId id="278" r:id="rId14"/>
    <p:sldId id="274" r:id="rId15"/>
    <p:sldId id="268" r:id="rId16"/>
    <p:sldId id="288" r:id="rId17"/>
    <p:sldId id="289" r:id="rId18"/>
    <p:sldId id="293" r:id="rId19"/>
    <p:sldId id="399" r:id="rId20"/>
  </p:sldIdLst>
  <p:sldSz cx="12192000" cy="6858000"/>
  <p:notesSz cx="12192000" cy="6858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98"/>
  </p:normalViewPr>
  <p:slideViewPr>
    <p:cSldViewPr>
      <p:cViewPr>
        <p:scale>
          <a:sx n="114" d="100"/>
          <a:sy n="114" d="100"/>
        </p:scale>
        <p:origin x="1016" y="41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0T06:31:49.747"/>
    </inkml:context>
    <inkml:brush xml:id="br0">
      <inkml:brushProperty name="width" value="0.025" units="cm"/>
      <inkml:brushProperty name="height" value="0.025" units="cm"/>
      <inkml:brushProperty name="color" value="#FF0066"/>
    </inkml:brush>
  </inkml:definitions>
  <inkml:trace contextRef="#ctx0" brushRef="#br0">1365 32 24575,'-21'0'0,"2"0"0,0 0 0,-2 0 0,-1 0 0,-4 0 0,13 0 0,-3 0 0,4 0 0,4 0 0,0 0 0,0 0 0,0 0 0,-1 0 0,-2 0 0,2 0 0,-3 0 0,4 0 0,0 0 0,0 0 0,0 0 0,0 0 0,-4 0 0,3 0 0,-3 0 0,4 0 0,0 0 0,-3 0 0,-2 0 0,0 0 0,-2 0 0,3 0 0,-5 0 0,1 0 0,4 0 0,-4 0 0,7 0 0,-6 0 0,3 0 0,-5 0 0,1 0 0,0 0 0,0 0 0,0 0 0,3 0 0,-9 0 0,7 0 0,-4 0 0,-17 0 0,18-3 0,-19 2 0,1-10 0,7 10 0,-10-6 0,16 7 0,0 0 0,5-4 0,-5 3 0,-1-2 0,10 3 0,-8 0 0,2 0 0,2 0 0,-5 0 0,-1 0 0,6 3 0,-41 2 0,34-1 0,-34 0 0,0 4 0,32-6 0,-21 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0T06:31:54.031"/>
    </inkml:context>
    <inkml:brush xml:id="br0">
      <inkml:brushProperty name="width" value="0.025" units="cm"/>
      <inkml:brushProperty name="height" value="0.025" units="cm"/>
      <inkml:brushProperty name="color" value="#FF0066"/>
    </inkml:brush>
  </inkml:definitions>
  <inkml:trace contextRef="#ctx0" brushRef="#br0">1 1 24575,'29'33'0,"0"4"0,-10 2 0,-4-11 0,4 16 0,-9-19 0,21 34 0,-6-6 0,-3-10 0,0 4 0,5 32 0,8 14 0,-15 0 0,7 0 0,-9-14 0,8 11 0,-7-11 0,0 1 0,-6-18 0,2-2 0,-7-25 0,10 4 0,-17-16 0,2-7 0,2 8 0,-4-6 0,9 12 0,-5-12 0,7 26 0,-2-16 0,6 32 0,-3-11 0,3 13 0,1 14 0,0 4 0,2 13 0,-5-40 0,0 0 0,7 44 0,-6-45 0,-1 2 0,-8 0 0,-2-1 0,4 29 0,-3-30 0,-1-1 0,-2 29 0,6 13 0,-1-14 0,-5-3 0,13 1 0,-13 2 0,6 14 0,-8-14 0,0-2 0,0-15 0,0-13 0,0 10 0,0-9 0,0 12 0,0 1 0,-5 3 0,-3 28 0,-4 17 0,0 4 0,1-7 0,2-19 0,0-7 0,2-13 0,-1 14-471,0-6 1,0 14-1,-2 9 1,1 2-1,0-5 1,0-11 0,2-19 470,-4 5 0,3-7-516,3 5 1,3 10 0,0 1 0,-1-10 515,-3 7 0,0-1 0,-1 21 0,0 10 0,2-16 0,4-34 0,0-6 0,-4 9 0,1 2 0,3 5 0,2 1 0,-1-6 0,0 1 0,0 11 0,0 1 0,-1-6 0,2 0 0,3 7 0,1 1 0,-4-8 0,1 0 0,12 13 0,2-1 0,-9-17 0,1 0 0,8 18 0,0-1 0,-9-24 0,-2-3 0,4 6 0,0-1 0,1 32-586,-1-38 0,2-1 586,6 30 0,-7-31 0,-1-1 0,7 15 0,-1-4 0,-7-16 0,2-14 2674,-5-6-2674,4-3 2265,-5-7-2265,0-3 1587,3-2-1587,-1-6 0,5-2 0,-3-3 0,0 0 0,0 0 0,1 0 0,2 0 0,2 0 0,-1 0 0,4-3 0,-7 2 0,6-3 0,-6 1 0,3 2 0,-4-3 0,0 4 0,0 0 0,0 0 0,0 7 0,0-1 0,-3 5 0,2-6 0,-6 2 0,6-6 0,-3 3 0,4-4 0,0 0 0,-3 3 0,2 2 0,-2 3 0,3 0 0,-4 0 0,0 0 0,-1 0 0,-2 0 0,6-3 0,-2 2 0,3-3 0,0 1 0,-3 2 0,-5-6 0,-5 2 0,-3-3 0,0 0 0,0 0 0,0 0 0,0 0 0,0 0 0,0-3 0,-1-2 0,-2-3 0,2-3 0,-14-4 0,7-9 0,-8 3 0,12 2 0,5 7 0,7 4 0,0 0 0,0 0 0,4 0 0,0 0 0,4 0 0,0 3 0,1-2 0,-1 2 0,0-3 0,0 0 0,0-3 0,1-9 0,-1 2 0,-2-5 0,-2 6 0,1-6 0,-4 5 0,4-5 0,-9 7 0,3-8 0,-6 6 0,2-5 0,-3 7 0,4 3 0,-3 5 0,6 8 0,-3 5 0,1 3 0,2 38 0,-3-25 0,4 29 0,0-27 0,0-5 0,0 13 0,4-13 0,-3 12 0,7-5 0,-7 21 0,4-10 0,0 9 0,-4-12 0,8-1 0,-7-7 0,2 5 0,0-12 0,-3 13 0,2-17 0,-3 5 0,4-7 0,-3-3 0,3 2 0,-1-10 0,2 2 0,3-10 0,0 2 0,0 1 0,-4-3 0,0 2 0,-4-3 0,-7 0 0,1 3 0,-5 2 0,-1-1 0,3 3 0,-3-2 0,4 3 0,-3 0 0,2 0 0,-3 0 0,-20 0 0,14 0 0,-40 0 0,30 5 0,-11-4 0,9 8 0,16-7 0,-5 2 0,11-4 0,0 0 0,0 0 0,-1 4 0,1-3 0,0 2 0,0 1 0,0-3 0,0 2 0,0 1 0,0-3 0,0 3 0,0-1 0,0-2 0,0 6 0,-1-6 0,1 3 0,0-4 0,0 0 0,4 0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0T06:32:02.086"/>
    </inkml:context>
    <inkml:brush xml:id="br0">
      <inkml:brushProperty name="width" value="0.025" units="cm"/>
      <inkml:brushProperty name="height" value="0.025" units="cm"/>
      <inkml:brushProperty name="color" value="#FF0066"/>
    </inkml:brush>
  </inkml:definitions>
  <inkml:trace contextRef="#ctx0" brushRef="#br0">1359 9636 24575,'12'0'0,"0"0"0,-1 0 0,-2 0 0,7 0 0,-7 0 0,6 0 0,-3 0 0,12 0 0,-6 0 0,5 0 0,-7-3 0,8-3 0,-7 1 0,7-3 0,-1 7 0,-5-6 0,5 6 0,-6-10 0,-1 6 0,0-3 0,7-1 0,-8 5 0,7-6 0,-6-1 0,-2 2 0,1 1 0,-4 0 0,6 4 0,0-4 0,-1 0 0,-4 0 0,-1 0 0,-2-1 0,3 1 0,0-3 0,-3 2 0,2-3 0,-3 4 0,0 0 0,4-4 0,-3 3 0,6-6 0,-6 6 0,7-6 0,-7 2 0,2 1 0,-3-4 0,6-3 0,-4 1 0,4-6 0,-6 8 0,0 0 0,-3 0 0,2 0 0,-3 0 0,4-1 0,-3 1 0,-2 4 0,1 0 0,-3 4 0,6-4 0,-6 3 0,3-2 0,-1 6 0,-2-2 0,3 2 0,-1 1 0,-2-3 0,3 2 0,-1-3 0,-2 0 0,6 0 0,-6 0 0,3 0 0,-4 0 0,0 0 0,0 0 0,3 0 0,-2-1 0,3-9 0,-4-4 0,0-10 0,0 7 0,0-6 0,0-7 0,0-11 0,0-14 0,0-13 0,0 23 0,0 1 0,0 22 0,0-9 0,-5-11 0,4 1 0,-18-11 0,9 11 0,-11 0 0,9 3 0,2 21 0,-5-6 0,5 14 0,0-14 0,3 13 0,-2-5 0,0 7 0,-3-8 0,7-1 0,-10-7 0,6-14 0,-16-3 0,8-13 0,-16-15 0,14-2 0,-16-14 0,16 14 0,-7 2 0,13 20 0,1-3 0,2 9 0,0-1-455,-4-22 1,0-3 454,3 1 0,0 1 0,0 3 0,1 0-630,-2-19 0,1 0 630,0 11 0,-1 2 0,-4-7 0,0 1 0,5 7 0,-2 0 0,-14-7 0,1 0 0,12 5 0,0 0 0,-17-5 0,-1 0 0,19 6 0,-1 1 0,-16 0 0,-1 0 0,12-1 0,1 1 0,-7 6 0,-2 2 0,1-1 0,0 3 0,6 11 0,-1 2 0,-5-7 0,2 2 0,-4-24 0,5 31 0,1 1 0,2-15 0,-21-10 0,27 34 0,-5-2 0,10 26 0,4-13 850,-2 13-850,-4-12 1319,0 5-1319,-4-7 0,4-1 0,0 1 0,-9-14 0,-2-31 0,-5 21 0,-3-31 0,10 38 0,-2-13 0,8 13 0,-19-24 0,15 20 0,-22-23 0,25 27 0,-14-10 0,20 30 0,-9-15 0,9 6 0,-1 9 0,-11-28 0,7 15 0,-9-21 0,-2-13 0,-3-3 0,0-1 0,2-9 0,9 9 0,-8 1 0,5-11 0,-2 24 0,5-10 0,1 14 0,-9-14 0,7 10 0,-4 10 0,9 12 0,4 19 0,3 0 0,-6-19 0,7 23 0,-13-23 0,12 19 0,-8-8 0,13 8 0,-18-19 0,15 23 0,-16-36 0,14 35 0,-6-22 0,7 26 0,0-5 0,1 11 0,4-4 0,-8 4 0,8-1 0,-8-2 0,7 6 0,-2-3 0,-1 4 0,3-4 0,-2-7 0,3 1 0,-4-6 0,3 12 0,-7-11 0,3 9 0,-1-9 0,3-1 0,3 10 0,-4-8 0,3 9 0,-2 1 0,3 0 0,0 4 0,0 0 0,0 0 0,0 0 0,0 0 0,0-1 0,0 1 0,0 0 0,0 0 0,0 0 0,0 0 0,0 0 0,0 0 0,0 0 0,0 0 0,0 0 0,0 0 0,0-1 0,0 1 0,0-3 0,0-2 0,0 1 0,0-4 0,-4 4 0,3-4 0,-2 3 0,3-2 0,0 6 0,-4-3 0,3 4 0,-2 0 0,3 0 0,0-4 0,0 3 0,0-2 0,0 2 0,3 1 0,2 0 0,-1 0 0,3-3 0,-6 2 0,6-7 0,-2 7 0,-1-2 0,4 3 0,-4-1 0,1 1 0,-2 0 0,1 0 0,0 4 0,4-3 0,-3 2 0,2-3 0,-3 0 0,5 0 0,-1 0 0,17-18 0,-13 14 0,14-13 0,-15 13 0,2-1 0,3-3 0,0 4 0,-3 0 0,-1 4 0,-4 0 0,0 0 0,-4 0 0,0 0 0,-1-1 0,2 1 0,-1 0 0,0 0 0,0 0 0,0 0 0,1 0 0,-2 0 0,1 3 0,-3-2 0,6 6 0,1-6 0,1 6 0,3-6 0,-4 6 0,0-6 0,0 6 0,0-6 0,0 6 0,0-3 0,0 1 0,0 2 0,0-6 0,0 2 0,0 1 0,1-3 0,2 6 0,-2-6 0,3 6 0,-4-3 0,4 0 0,-3 4 0,6-8 0,-3 7 0,1-6 0,-1 6 0,6-7 0,-3 3 0,12 0 0,-14 1 0,6 0 0,-10 3 0,6-2 0,-2-1 0,3 3 0,0-2 0,-3 3 0,-2-4 0,1 3 0,-3-2 0,6 3 0,-6 0 0,3 0 0,-4 0 0,0 0 0,0 0 0,0 0 0,0 0 0,0 0 0,1 0 0,-1 0 0,0 0 0,-4-4 0,3 3 0,-2-2 0,3 3 0,-11 0 0,-2-4 0,-18-6 0,5 4 0,-6-8 0,8 10 0,4-4 0,-4 0 0,7 3 0,-6-2 0,3 3 0,-1-1 0,1 2 0,-7-7 0,5 8 0,-9-12 0,7 14 0,-1-8 0,1 4 0,0-1 0,4 2 0,-4 3 0,7 0 0,-2 0 0,3 0 0,-1 0 0,-2 0 0,2 0 0,8 0 0,27 0 0,-5 3 0,23 3 0,-19 4 0,0-4 0,6 3 0,-6-3 0,0 4 0,-2-1 0,-6-1 0,-1-3 0,-4 2 0,0-3 0,-4 1 0,-3 26 0,-2-10 0,-3 25 0,5-6 0,-4-14 0,4 12 0,-5-13 0,0 7 0,0 14 0,0-17 0,0 15 0,-7-6 0,2-9 0,-3 15 0,1-26 0,6 12 0,-7-16 0,8 9 0,-8-14 0,7 2 0,-6-2 0,6-1 0,-6-4 0,6 3 0,-2-2 0,3-1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0T06:32:07.932"/>
    </inkml:context>
    <inkml:brush xml:id="br0">
      <inkml:brushProperty name="width" value="0.025" units="cm"/>
      <inkml:brushProperty name="height" value="0.025" units="cm"/>
      <inkml:brushProperty name="color" value="#FF0066"/>
    </inkml:brush>
  </inkml:definitions>
  <inkml:trace contextRef="#ctx0" brushRef="#br0">1 554 24575,'0'24'0,"0"-6"0,0 5 0,0-7 0,4 7 0,16 28 0,-8-24 0,11 14 0,-15-34 0,0-6 0,0 6 0,0-6 0,0 6 0,0-2 0,0-1 0,1 3 0,-1-2 0,3 3 0,-2-4 0,7 7 0,-7-5 0,6 2 0,-6-1 0,2-6 0,-2 6 0,2-3 0,-2 5 0,3-1 0,0-4 0,0 3 0,1-2 0,9 9 0,-8-5 0,17 2 0,-13-4 0,12-6 0,-12 6 0,6-6 0,-1 7 0,-5-3 0,5 1 0,0-3 0,10-3 0,1 5 0,5-4 0,7 4 0,10-5 0,-5 0 0,16 0 0,-32 0 0,25 0 0,-24 0 0,3-3 0,-15 2 0,-8-3 0,0 1 0,0 2 0,-3-3 0,-1 4 0,-4-4 0,0 4 0,3-4 0,2 0 0,0 3 0,2-2 0,-6 3 0,2-4 0,1 3 0,-3-2 0,3-1 0,-4 3 0,11-2 0,2-2 0,4 4 0,19-11 0,-15 10 0,30-12 0,-23 8 0,9-2 0,-12-2 0,12-5 0,-9 7 0,10-11 0,-14 13 0,0-5 0,-7 2 0,-1 3 0,-8-1 0,0 2 0,0-3 0,7 4 0,-5-3 0,6 2 0,-12-3 0,11 4 0,-9-4 0,16 3 0,-5-5 0,1 1 0,18-11 0,-23 9 0,23-8 0,-19 9 0,14-5 0,-15 4 0,2 1 0,-22 2 0,3 4 0,-6-4 0,3 0 0,-1 3 0,2 2 0,7 3 0,-3-4 0,2 3 0,-3-2 0,0 3 0,0-4 0,1 3 0,-1-3 0,0 4 0,0 0 0,0 0 0,11-4 0,2-7 0,11-1 0,14-13 0,30-10 0,7-3 0,-23 8 0,0 1 0,23-1 0,6-13 0,-47 29 0,-8-1 0,-23 8 0,-10 6 0,-12-2 0,-24-11 0,-42-8 0,24 4 0,-4-2-363,2 0 1,-3 0 362,-16-7 0,0 1 0,24 10 0,1 0 0,-13-9 0,3 2 0,-7 6 0,7-1 0,38 13 0,-2 5 0,21 0 0,0 0 0,48 0 725,-29 4-725,40 1 0,-43 4 0,16 1 0,-4 0 0,-1-1 0,-2 1 0,0-1 0,-8-4 0,3 3 0,-9-7 0,2 6 0,-2-6 0,3 3 0,0-4 0,0 3 0,11-2 0,-5 3 0,6-1 0,-12-2 0,0 3 0,-4-4 0,0 0 0,-3 3 0,2-2 0,35 11 0,0-3 0,34 15 0,-27-4 0,-11 0 0,-14-10 0,-12-6 0,-4 0 0,0-4 0,-4 4 0,1 0 0,2-3 0,-3 6 0,50 43 0,-14-1 0,-2-11 0,1 2 0,11 19 0,-14-19 0,-9-12 0,-24-13 0,-8-11 0,-32 3 0,-5-5 0,0 8 0,5-9 0,25 6 0,0-6 0,4 3 0,0-4 0,0 0 0,0 0 0,0 0 0,7 0 0,5 0 0,5-4 0,3 3 0,-4-6 0,0 3 0,0-4 0,0 3 0,0 2 0,-10 10 0,0-2 0,-10 7 0,4-8 0,-17 21 0,12-16 0,-29 33 0,18-23 0,-25 37 0,4-5 0,-11 31 0,6-10 0,16-9 0,10-27 0,18-14 0,3-9 0,3 10 0,0-5 0,0 6 0,0-12 0,0 0 0,0-4 0,0 0 0,0 0 0,0 0 0,0 0 0,0 0 0,0 0 0,0 0 0,-8-3 0,-8-1 0,5-4 0,-3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0T09:42:39.339"/>
    </inkml:context>
    <inkml:brush xml:id="br0">
      <inkml:brushProperty name="width" value="0.025" units="cm"/>
      <inkml:brushProperty name="height" value="0.025" units="cm"/>
      <inkml:brushProperty name="color" value="#FF0066"/>
    </inkml:brush>
  </inkml:definitions>
  <inkml:trace contextRef="#ctx0" brushRef="#br0">0 0 24575,'68'8'0,"0"0"0,-27-5 0,22 5 0,10 0 0,2-1 0,-10 0 0,-21 0 0,31 2 0,-9 1 0,-50-6 0,-4 0 0,69 15 0,-41-14 0,10 10 0,-3-2 0,-20-11 0,0 7 0,-15-9 0,-4 0 0,0 0 0,0 0 0,0 0 0,0 0 0,11 0 0,-8 0 0,7 0 0,-9 0 0,2 0 0,-2 0 0,3 0 0,-4 0 0,0 0 0,0 0 0,0 0 0,-3 0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0T09:42:42.643"/>
    </inkml:context>
    <inkml:brush xml:id="br0">
      <inkml:brushProperty name="width" value="0.025" units="cm"/>
      <inkml:brushProperty name="height" value="0.025" units="cm"/>
      <inkml:brushProperty name="color" value="#FF0066"/>
    </inkml:brush>
  </inkml:definitions>
  <inkml:trace contextRef="#ctx0" brushRef="#br0">0 4847 24575,'3'-3'0,"2"-5"0,19-7 0,42-29 0,20-16-2435,-20 8 0,3-4 1,4-3 2434,-5 4 0,3-2 0,2-2 0,0-2-443,-13 10 0,1-2 1,0 0-1,-1-1 1,-2 1 442,7-9 0,-3 0 0,0 0 0,0 0 0,1-1 0,0 0 0,0 0 0,-1 1 0,-3 3 0,0 0 0,-1 0 0,0-1 0,2-4 0,-1-2 0,-1 1 0,-2 4 0,5-2 0,-3 5 0,1-2 0,3-5 0,-1-2 0,-2 5 0,12-10 0,-3 5 0,-4 3 0,-1 1-70,-3 7 1,-1 2 69,2-1 0,-2 3 0,-19 16 0,1 2 0,19-12 0,3-1 0,-10 5 0,2 1 0,8 2 0,5-1 0,-12 4 0,2-2 0,0 0 0,-1 2 0,1 1 0,2-1 0,11-5 0,2 0 0,6-3 0,2-2 0,6-5 0,0 2 0,-3 3-628,4 2 0,-3 3 0,4-1 628,-4 1 0,4-3 0,0 1 0,-6 5 0,-8 7 0,-5 4 0,5-1 0,0 0 0,6-3 0,0 2 0,-5 2 0,0 3 0,-4 3 0,3-2 0,19-10 0,2-3 0,-4 6 0,-23 11 0,-4 5 0,0-3 0,2-5 0,0-2 0,2 2-496,7 4 1,1 3 0,1-4 495,-1-7 0,1-3 0,1 2 0,3 8 0,2 3 0,-3-4 316,-7-5 0,-1-4 0,0 3-316,7 4 0,2 1 0,-3 1 0,-9 0 0,-2 0 0,0 0 0,-1-1 0,0 2 0,2 1 0,19 0 0,4 4 0,-7-1 436,-4-3 0,-1 2-436,-7 7 0,5 2 0,-9 1 0,-12 0 0,-5 3 0,41 3 0,-30 0 1954,-24 0-1954,-16 0 5562,-7 0-5562,-3 3 2301,36-2-2301,20 21 0,1-13 0,11-3-490,-12 2 1,3-1-1,4-1 490,10-1 0,3-1 0,4-2-869,-11-1 1,3-1 0,1-1 0,-1 1 868,-2 0 0,-1 0 0,1 0 0,-1 0 0,0 0 0,0 1 0,0-1 0,0-1 0,-1-1 0,1-1 0,-1-1 0,-5 2 0,3 1 0,-5 0 0,0 0 0,-1-3 0,-1-1 0,-7 2 0,-14 1 0,8 4 0,6 9 0,21 8 0,12 5 0,6 2 0,-1 1 0,-10-4 0,-15-4-865,1-3 0,-13-4 0,13 6 865,-2 2 0,16 5 0,8 4 0,2 1 0,-5-2 0,-14-3 0,-20-7 0,-6-1 0,-9-2 701,33 16 1,-1-1-702,-32-14 0,-1-1 0,21 5 0,-6-1 3181,-17-2-3181,-21-9 0,-5 5 0,-8-9 3624,-1 4-3624,-2 0 718,3 0-718,0 0 0,48 24 0,15-3 0,-27-10 0,1 1 0,40 14 0,-12-24 0,2 4 0,0-14 0,-23 0 0,-12 0 0,-30 0 0,9 0 0,-14 0 0,6 0 0,-6 0 0,3 0 0,-4 0 0,-8 0 0,-4 0 0,-5 0 0,-3 0 0,4 0 0,0 0 0,0 0 0,0 0 0,-4 0 0,3 0 0,-2-3 0,6-2 0,2-6 0,3 2 0,3-3 0,-2 0 0,3 3 0,-4-2 0,7-22 0,-9 23 0,4-22 0,-13 28 0,-9-5 0,-5-6 0,-7 3 0,6-6 0,3 8 0,7-2 0,0 4 0,3 0 0,5 0 0,8 4 0,8 0 0,12 9 0,24 21 0,-14-12 0,19 22 0,-24-23 0,-4 5 0,-2-5 0,-11-1 0,0-4 0,0 3 0,1-2 0,-1 7 0,0-7 0,6 13 0,-5-11 0,2 8 0,-4-15 0,-10 0 0,2-1 0,-10 2 0,-2 3 0,1-4 0,-4 4 0,7-4 0,-27 14 0,-15 14 0,-2-2 0,-6 7 0,8-1 0,-5 13 0,8-9 0,3 10 0,36-36 0,-1 5 0,7-15 0,-2 0 0,1-4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0T09:42:48.079"/>
    </inkml:context>
    <inkml:brush xml:id="br0">
      <inkml:brushProperty name="width" value="0.025" units="cm"/>
      <inkml:brushProperty name="height" value="0.025" units="cm"/>
      <inkml:brushProperty name="color" value="#FF0066"/>
    </inkml:brush>
  </inkml:definitions>
  <inkml:trace contextRef="#ctx0" brushRef="#br0">0 5433 24575,'51'8'0,"35"4"0,-31 2 0,3 1-881,9-3 1,3-1 880,5 5 0,1-1 0,-5-4 0,2 0 0,-6-3 0,5 0 0,-1-1-1735,-3-2 0,0-1 0,2 0 1735,11 0 0,2 0 0,1-1 0,2-2 0,1-2 0,1 1-1163,5 1 1,0-1 0,0-1 1162,1-4 0,-1-3 0,2-2 0,-20 5 0,-1 1 0,6-6 0,12-11-256,-27-1 1,9-7-1,8-6 1,5-5-1,5-4 1,2-3-1,1-1 1,1-1-1,-3 0 1,-3 2 0,-5 4-1,-7 3 1,-7 5 255,28-13 0,-13 6 0,-5 3 0,4-3 0,12-8-168,-24 11 0,10-5 0,8-4 0,5-3 0,2-2 0,1 0 0,-2 0 0,-5 1 0,-7 3 0,-9 4 1,-12 5-1,-14 5 168,20-23 0,-20 6 610,0 0 1,-3 0-611,-1 5 0,-1 0 0,-4 3 0,-3-2 0,-2-8 0,0-1 0,3 10 0,-1-2 0,-1-14 0,2-3 0,8-2 0,3-1 1107,2-6 1,0-3-1108,0-4 0,2-2 934,-13 24 1,2-2 0,1 0-935,5-9 0,1-1 0,0 0 0,1-2 0,-1 0 0,4 0 0,-6 14 0,2 1 0,1-1 0,-1 1 0,9-14 0,0 0 0,1 2-416,7 0 0,1 1 0,0 2 416,-5 3 0,-1 1 0,1-1 0,4-7 0,1-2 0,-3 2 0,-9 11 0,-3 1 0,1-1 0,4-6 0,0-1 0,-2 1 0,-11 8 0,-2 2 0,0 1 0,21-23 0,-2 2 0,-5 6 0,-1 2 0,0 4 0,-1 6 0,-17 20 0,-1 3 425,8-8 1,-4 8-426,-11 18 1177,25-29-1177,-28 30 0,25-15 0,-23 15 5801,15 7-5801,-19-5 2968,21 3-2968,-18-8 0,16 4 0,-19-4 0,21-3 0,3 1 0,0 0 0,10-2 0,-10 7 0,1-1 0,-15 9 0,-6 7 0,-18 0 0,8 0 0,-11 0 0,0 4 0,3 0 0,9 8 0,5-2 0,0 2 0,6 3 0,-6-4 0,0 3 0,19-8 0,-15-2 0,16-4 0,1 7 0,3-6 0,0 6 0,-3-7 0,-21 0 0,-2 0 0,-6 4 0,-1 0 0,0 4 0,7 2 0,-5-6 0,31 26 0,-19-14 0,21 20 0,-19-19 0,-7 1 0,6-11 0,-13 0 0,5-4 0,0 3 0,16-1 0,-3 0 0,36-5 0,-6 0 0,14 0 0,-18 0 0,-23 0 0,-19 0 0,-9 0 0,-10 0 0,-5 7 0,-9-5 0,-10 14 0,-2-4 0,-7 5 0,-1 3 0,12-12 0,-9 11 0,16-17 0,-17 12 0,13-9 0,-1 1 0,4-3 0,6 1 0,-3-3 0,7-1 0,2-5 0,8-13 0,-4 7 0,4-12 0,-2 14 0,-2-2 0,3-4 0,-1 5 0,-2-6 0,3 8 0,-4 0 0,0 0 0,3-4 0,-2 3 0,3-2 0,-4 3 0,0 0 0,0 7 0,3 2 0,2 3 0,3 0 0,0-4 0,-4-4 0,4 0 0,-4-1 0,4-2 0,4 2 0,-7-3 0,6-3 0,-6-2 0,-1-3 0,3 3 0,-6-2 0,3 6 0,-4-2 0,0 10 0,0 2 0,0 7 0,3 3 0,5 2 0,1-1 0,7 4 0,-11-7 0,6 2 0,-7-3 0,4 0 0,0-3 0,1 2 0,2-2 0,-2-1 0,3 3 0,-4-6 0,0 6 0,0-6 0,0 3 0,0-1 0,0 2 0,0-1 0,-3 0 0,-1-4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78365" y="2107972"/>
            <a:ext cx="2072639" cy="1811655"/>
          </a:xfrm>
          <a:custGeom>
            <a:avLst/>
            <a:gdLst/>
            <a:ahLst/>
            <a:cxnLst/>
            <a:rect l="l" t="t" r="r" b="b"/>
            <a:pathLst>
              <a:path w="2072639" h="1811654">
                <a:moveTo>
                  <a:pt x="1166572" y="0"/>
                </a:moveTo>
                <a:lnTo>
                  <a:pt x="1166572" y="271717"/>
                </a:lnTo>
                <a:lnTo>
                  <a:pt x="0" y="271717"/>
                </a:lnTo>
                <a:lnTo>
                  <a:pt x="0" y="1539730"/>
                </a:lnTo>
                <a:lnTo>
                  <a:pt x="1166572" y="1539730"/>
                </a:lnTo>
                <a:lnTo>
                  <a:pt x="1166572" y="1811446"/>
                </a:lnTo>
                <a:lnTo>
                  <a:pt x="2072295" y="905723"/>
                </a:lnTo>
                <a:lnTo>
                  <a:pt x="1166572" y="0"/>
                </a:lnTo>
                <a:close/>
              </a:path>
            </a:pathLst>
          </a:custGeom>
          <a:solidFill>
            <a:srgbClr val="CFD5EA">
              <a:alpha val="90199"/>
            </a:srgbClr>
          </a:solidFill>
        </p:spPr>
        <p:txBody>
          <a:bodyPr wrap="square" lIns="0" tIns="0" rIns="0" bIns="0" rtlCol="0"/>
          <a:lstStyle/>
          <a:p>
            <a:endParaRPr/>
          </a:p>
        </p:txBody>
      </p:sp>
      <p:sp>
        <p:nvSpPr>
          <p:cNvPr id="17" name="bg object 17"/>
          <p:cNvSpPr/>
          <p:nvPr/>
        </p:nvSpPr>
        <p:spPr>
          <a:xfrm>
            <a:off x="1178365" y="2107972"/>
            <a:ext cx="2072639" cy="1811655"/>
          </a:xfrm>
          <a:custGeom>
            <a:avLst/>
            <a:gdLst/>
            <a:ahLst/>
            <a:cxnLst/>
            <a:rect l="l" t="t" r="r" b="b"/>
            <a:pathLst>
              <a:path w="2072639" h="1811654">
                <a:moveTo>
                  <a:pt x="0" y="271717"/>
                </a:moveTo>
                <a:lnTo>
                  <a:pt x="1166573" y="271717"/>
                </a:lnTo>
                <a:lnTo>
                  <a:pt x="1166573" y="0"/>
                </a:lnTo>
                <a:lnTo>
                  <a:pt x="2072295" y="905723"/>
                </a:lnTo>
                <a:lnTo>
                  <a:pt x="1166573" y="1811447"/>
                </a:lnTo>
                <a:lnTo>
                  <a:pt x="1166573" y="1539730"/>
                </a:lnTo>
                <a:lnTo>
                  <a:pt x="0" y="1539730"/>
                </a:lnTo>
                <a:lnTo>
                  <a:pt x="0" y="271717"/>
                </a:lnTo>
                <a:close/>
              </a:path>
            </a:pathLst>
          </a:custGeom>
          <a:ln w="12700">
            <a:solidFill>
              <a:srgbClr val="CFD5EA"/>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867D3C-104B-03D8-0E25-5326800ED69F}"/>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E78D12EC-5E4F-F4E0-7891-EF15359A24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9AEA8983-77FD-21BA-99DB-4A55EEDDC0B9}"/>
              </a:ext>
            </a:extLst>
          </p:cNvPr>
          <p:cNvSpPr>
            <a:spLocks noGrp="1"/>
          </p:cNvSpPr>
          <p:nvPr>
            <p:ph type="dt" sz="half" idx="10"/>
          </p:nvPr>
        </p:nvSpPr>
        <p:spPr/>
        <p:txBody>
          <a:bodyPr/>
          <a:lstStyle/>
          <a:p>
            <a:fld id="{4B22240E-33CE-D74D-B655-2348D0912DBD}" type="datetimeFigureOut">
              <a:t>28.09.2025</a:t>
            </a:fld>
            <a:endParaRPr lang="da-DK"/>
          </a:p>
        </p:txBody>
      </p:sp>
      <p:sp>
        <p:nvSpPr>
          <p:cNvPr id="5" name="Pladsholder til sidefod 4">
            <a:extLst>
              <a:ext uri="{FF2B5EF4-FFF2-40B4-BE49-F238E27FC236}">
                <a16:creationId xmlns:a16="http://schemas.microsoft.com/office/drawing/2014/main" id="{BCD4ACC3-7D9A-2A99-740C-CA0318E23D9B}"/>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D1C2A31E-7963-FB69-5660-9DEAB7A271E6}"/>
              </a:ext>
            </a:extLst>
          </p:cNvPr>
          <p:cNvSpPr>
            <a:spLocks noGrp="1"/>
          </p:cNvSpPr>
          <p:nvPr>
            <p:ph type="sldNum" sz="quarter" idx="12"/>
          </p:nvPr>
        </p:nvSpPr>
        <p:spPr/>
        <p:txBody>
          <a:bodyPr/>
          <a:lstStyle/>
          <a:p>
            <a:fld id="{3F524880-1D14-AF4C-9818-14415875B7C4}" type="slidenum">
              <a:t>‹nr.›</a:t>
            </a:fld>
            <a:endParaRPr lang="da-DK"/>
          </a:p>
        </p:txBody>
      </p:sp>
    </p:spTree>
    <p:extLst>
      <p:ext uri="{BB962C8B-B14F-4D97-AF65-F5344CB8AC3E}">
        <p14:creationId xmlns:p14="http://schemas.microsoft.com/office/powerpoint/2010/main" val="3156284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37482" y="2040128"/>
            <a:ext cx="3717035" cy="1935479"/>
          </a:xfrm>
          <a:prstGeom prst="rect">
            <a:avLst/>
          </a:prstGeom>
        </p:spPr>
        <p:txBody>
          <a:bodyPr wrap="square" lIns="0" tIns="0" rIns="0" bIns="0">
            <a:spAutoFit/>
          </a:bodyPr>
          <a:lstStyle>
            <a:lvl1pPr>
              <a:defRPr sz="60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1030209" y="3209035"/>
            <a:ext cx="10131580" cy="13912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9/28/25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‹nr.›</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customXml" Target="../ink/ink4.xml"/><Relationship Id="rId3" Type="http://schemas.openxmlformats.org/officeDocument/2006/relationships/image" Target="../media/image5.jpg"/><Relationship Id="rId7" Type="http://schemas.openxmlformats.org/officeDocument/2006/relationships/customXml" Target="../ink/ink1.xml"/><Relationship Id="rId12" Type="http://schemas.openxmlformats.org/officeDocument/2006/relationships/image" Target="../media/image1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3.xml"/><Relationship Id="rId5" Type="http://schemas.openxmlformats.org/officeDocument/2006/relationships/image" Target="../media/image11.png"/><Relationship Id="rId10" Type="http://schemas.openxmlformats.org/officeDocument/2006/relationships/image" Target="../media/image100.png"/><Relationship Id="rId4" Type="http://schemas.openxmlformats.org/officeDocument/2006/relationships/image" Target="../media/image10.png"/><Relationship Id="rId9" Type="http://schemas.openxmlformats.org/officeDocument/2006/relationships/customXml" Target="../ink/ink2.xml"/><Relationship Id="rId14" Type="http://schemas.openxmlformats.org/officeDocument/2006/relationships/image" Target="../media/image12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16.png"/><Relationship Id="rId4" Type="http://schemas.openxmlformats.org/officeDocument/2006/relationships/customXml" Target="../ink/ink5.xml"/><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eurostat/restatapi" TargetMode="Externa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62280" rIns="0" bIns="0" rtlCol="0">
            <a:spAutoFit/>
          </a:bodyPr>
          <a:lstStyle/>
          <a:p>
            <a:pPr algn="ctr">
              <a:lnSpc>
                <a:spcPct val="100000"/>
              </a:lnSpc>
              <a:spcBef>
                <a:spcPts val="3640"/>
              </a:spcBef>
            </a:pPr>
            <a:r>
              <a:rPr spc="-25" dirty="0"/>
              <a:t>Dataanalyse</a:t>
            </a:r>
          </a:p>
          <a:p>
            <a:pPr algn="ctr">
              <a:lnSpc>
                <a:spcPct val="100000"/>
              </a:lnSpc>
              <a:spcBef>
                <a:spcPts val="1415"/>
              </a:spcBef>
            </a:pPr>
            <a:r>
              <a:rPr sz="2400" spc="-5" dirty="0">
                <a:latin typeface="Calibri"/>
                <a:cs typeface="Calibri"/>
              </a:rPr>
              <a:t>API</a:t>
            </a:r>
            <a:r>
              <a:rPr sz="2400" spc="-25" dirty="0">
                <a:latin typeface="Calibri"/>
                <a:cs typeface="Calibri"/>
              </a:rPr>
              <a:t> </a:t>
            </a:r>
            <a:r>
              <a:rPr sz="2400" dirty="0">
                <a:latin typeface="Calibri"/>
                <a:cs typeface="Calibri"/>
              </a:rPr>
              <a:t>–</a:t>
            </a:r>
            <a:r>
              <a:rPr sz="2400" spc="-15" dirty="0">
                <a:latin typeface="Calibri"/>
                <a:cs typeface="Calibri"/>
              </a:rPr>
              <a:t> recap </a:t>
            </a:r>
            <a:r>
              <a:rPr sz="2400" spc="-5" dirty="0">
                <a:latin typeface="Calibri"/>
                <a:cs typeface="Calibri"/>
              </a:rPr>
              <a:t>og</a:t>
            </a:r>
            <a:r>
              <a:rPr sz="2400" spc="-20" dirty="0">
                <a:latin typeface="Calibri"/>
                <a:cs typeface="Calibri"/>
              </a:rPr>
              <a:t> </a:t>
            </a:r>
            <a:r>
              <a:rPr lang="da-DK" sz="2400" spc="-20" dirty="0">
                <a:latin typeface="Calibri"/>
                <a:cs typeface="Calibri"/>
              </a:rPr>
              <a:t>Eurostat</a:t>
            </a:r>
            <a:endParaRPr sz="24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urostat | Luxembourg">
            <a:extLst>
              <a:ext uri="{FF2B5EF4-FFF2-40B4-BE49-F238E27FC236}">
                <a16:creationId xmlns:a16="http://schemas.microsoft.com/office/drawing/2014/main" id="{3BE6A70D-0FD5-969E-53D6-0540C24B17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000" t="31333" r="9774" b="28666"/>
          <a:stretch/>
        </p:blipFill>
        <p:spPr bwMode="auto">
          <a:xfrm>
            <a:off x="102844" y="1176258"/>
            <a:ext cx="2292486"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anmarks Statistik | Gentofte Bibliotekerne">
            <a:extLst>
              <a:ext uri="{FF2B5EF4-FFF2-40B4-BE49-F238E27FC236}">
                <a16:creationId xmlns:a16="http://schemas.microsoft.com/office/drawing/2014/main" id="{03190330-687D-3633-D952-2140AE06B6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86" t="17663" r="9313" b="23401"/>
          <a:stretch/>
        </p:blipFill>
        <p:spPr bwMode="auto">
          <a:xfrm>
            <a:off x="898103" y="736539"/>
            <a:ext cx="1524000" cy="879438"/>
          </a:xfrm>
          <a:prstGeom prst="rect">
            <a:avLst/>
          </a:prstGeom>
          <a:noFill/>
          <a:extLst>
            <a:ext uri="{909E8E84-426E-40DD-AFC4-6F175D3DCCD1}">
              <a14:hiddenFill xmlns:a14="http://schemas.microsoft.com/office/drawing/2010/main">
                <a:solidFill>
                  <a:srgbClr val="FFFFFF"/>
                </a:solidFill>
              </a14:hiddenFill>
            </a:ext>
          </a:extLst>
        </p:spPr>
      </p:pic>
      <p:sp>
        <p:nvSpPr>
          <p:cNvPr id="2" name="Tekstfelt 1">
            <a:extLst>
              <a:ext uri="{FF2B5EF4-FFF2-40B4-BE49-F238E27FC236}">
                <a16:creationId xmlns:a16="http://schemas.microsoft.com/office/drawing/2014/main" id="{151090F7-A70A-4382-7793-064825B1FFB1}"/>
              </a:ext>
            </a:extLst>
          </p:cNvPr>
          <p:cNvSpPr txBox="1"/>
          <p:nvPr/>
        </p:nvSpPr>
        <p:spPr>
          <a:xfrm>
            <a:off x="3086591" y="1747758"/>
            <a:ext cx="3424464" cy="1754326"/>
          </a:xfrm>
          <a:prstGeom prst="rect">
            <a:avLst/>
          </a:prstGeom>
          <a:noFill/>
        </p:spPr>
        <p:txBody>
          <a:bodyPr wrap="none" rtlCol="0">
            <a:spAutoFit/>
          </a:bodyPr>
          <a:lstStyle/>
          <a:p>
            <a:pPr marL="342900" indent="-342900">
              <a:buFont typeface="+mj-lt"/>
              <a:buAutoNum type="arabicPeriod"/>
            </a:pPr>
            <a:r>
              <a:rPr lang="da-DK"/>
              <a:t>Opvarmning – myLogReg</a:t>
            </a:r>
          </a:p>
          <a:p>
            <a:pPr marL="342900" indent="-342900">
              <a:buFont typeface="+mj-lt"/>
              <a:buAutoNum type="arabicPeriod"/>
            </a:pPr>
            <a:r>
              <a:rPr lang="da-DK"/>
              <a:t>Strings - stringr</a:t>
            </a:r>
          </a:p>
          <a:p>
            <a:pPr marL="342900" indent="-342900">
              <a:buFont typeface="+mj-lt"/>
              <a:buAutoNum type="arabicPeriod"/>
            </a:pPr>
            <a:r>
              <a:rPr lang="da-DK"/>
              <a:t>eurostat / restapi fra GitHub</a:t>
            </a:r>
          </a:p>
          <a:p>
            <a:pPr marL="800100" lvl="1" indent="-342900">
              <a:buFont typeface="+mj-lt"/>
              <a:buAutoNum type="arabicPeriod"/>
            </a:pPr>
            <a:r>
              <a:rPr lang="da-DK"/>
              <a:t>De unge mødre – Video</a:t>
            </a:r>
          </a:p>
          <a:p>
            <a:pPr marL="800100" lvl="1" indent="-342900">
              <a:buFont typeface="+mj-lt"/>
              <a:buAutoNum type="arabicPeriod"/>
            </a:pPr>
            <a:r>
              <a:rPr lang="da-DK"/>
              <a:t>De unge mødre - Tyskland</a:t>
            </a:r>
          </a:p>
          <a:p>
            <a:pPr marL="800100" lvl="1" indent="-342900">
              <a:buFont typeface="+mj-lt"/>
              <a:buAutoNum type="arabicPeriod"/>
            </a:pPr>
            <a:endParaRPr lang="da-DK"/>
          </a:p>
        </p:txBody>
      </p:sp>
    </p:spTree>
    <p:extLst>
      <p:ext uri="{BB962C8B-B14F-4D97-AF65-F5344CB8AC3E}">
        <p14:creationId xmlns:p14="http://schemas.microsoft.com/office/powerpoint/2010/main" val="753468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felt 3">
            <a:extLst>
              <a:ext uri="{FF2B5EF4-FFF2-40B4-BE49-F238E27FC236}">
                <a16:creationId xmlns:a16="http://schemas.microsoft.com/office/drawing/2014/main" id="{2E2C79D3-AF4F-E696-70BA-E4912611C3ED}"/>
              </a:ext>
            </a:extLst>
          </p:cNvPr>
          <p:cNvSpPr txBox="1"/>
          <p:nvPr/>
        </p:nvSpPr>
        <p:spPr>
          <a:xfrm>
            <a:off x="2895092" y="248478"/>
            <a:ext cx="9213066" cy="5632311"/>
          </a:xfrm>
          <a:prstGeom prst="rect">
            <a:avLst/>
          </a:prstGeom>
          <a:noFill/>
        </p:spPr>
        <p:txBody>
          <a:bodyPr wrap="square">
            <a:spAutoFit/>
          </a:bodyPr>
          <a:lstStyle/>
          <a:p>
            <a:pPr algn="l"/>
            <a:r>
              <a:rPr lang="da-DK" b="0" i="0">
                <a:solidFill>
                  <a:schemeClr val="accent2"/>
                </a:solidFill>
                <a:effectLst/>
                <a:latin typeface="-apple-system"/>
              </a:rPr>
              <a:t>THE FUNCTIONS</a:t>
            </a:r>
          </a:p>
          <a:p>
            <a:pPr marL="342900" indent="-342900" algn="l">
              <a:buFont typeface="+mj-lt"/>
              <a:buAutoNum type="arabicPeriod"/>
            </a:pPr>
            <a:r>
              <a:rPr lang="da-DK">
                <a:solidFill>
                  <a:srgbClr val="1F2328"/>
                </a:solidFill>
                <a:latin typeface="-apple-system"/>
              </a:rPr>
              <a:t>D</a:t>
            </a:r>
            <a:r>
              <a:rPr lang="da-DK" b="0" i="0">
                <a:solidFill>
                  <a:srgbClr val="1F2328"/>
                </a:solidFill>
                <a:effectLst/>
                <a:latin typeface="-apple-system"/>
              </a:rPr>
              <a:t>ownloading and filtering the list of available datasets</a:t>
            </a:r>
            <a:endParaRPr lang="da-DK" b="0" i="0">
              <a:solidFill>
                <a:schemeClr val="accent2"/>
              </a:solidFill>
              <a:effectLst/>
              <a:latin typeface="-apple-system"/>
            </a:endParaRPr>
          </a:p>
          <a:p>
            <a:pPr marL="800100" lvl="1" indent="-342900">
              <a:buFont typeface="+mj-lt"/>
              <a:buAutoNum type="arabicPeriod"/>
            </a:pPr>
            <a:r>
              <a:rPr lang="da-DK" b="1" i="0">
                <a:solidFill>
                  <a:srgbClr val="1F2328"/>
                </a:solidFill>
                <a:effectLst/>
                <a:latin typeface="ui-monospace"/>
              </a:rPr>
              <a:t>search_eurostat_toc</a:t>
            </a:r>
            <a:r>
              <a:rPr lang="da-DK" b="0" i="0">
                <a:solidFill>
                  <a:srgbClr val="1F2328"/>
                </a:solidFill>
                <a:effectLst/>
                <a:latin typeface="-apple-system"/>
              </a:rPr>
              <a:t>() This function makes it possible to search through the different tables for a word or a phrase.</a:t>
            </a:r>
          </a:p>
          <a:p>
            <a:pPr marL="800100" lvl="1" indent="-342900">
              <a:buFont typeface="+mj-lt"/>
              <a:buAutoNum type="arabicPeriod"/>
            </a:pPr>
            <a:r>
              <a:rPr lang="da-DK" b="1" i="0">
                <a:solidFill>
                  <a:srgbClr val="1F2328"/>
                </a:solidFill>
                <a:effectLst/>
                <a:latin typeface="ui-monospace"/>
              </a:rPr>
              <a:t>get_eurostat_toc</a:t>
            </a:r>
            <a:r>
              <a:rPr lang="da-DK" b="0" i="0">
                <a:solidFill>
                  <a:srgbClr val="1F2328"/>
                </a:solidFill>
                <a:effectLst/>
                <a:latin typeface="-apple-system"/>
              </a:rPr>
              <a:t>() This function downloads all the possible tables available.</a:t>
            </a:r>
          </a:p>
          <a:p>
            <a:pPr marL="800100" lvl="1" indent="-342900">
              <a:buFont typeface="+mj-lt"/>
              <a:buAutoNum type="arabicPeriod"/>
            </a:pPr>
            <a:endParaRPr lang="da-DK" b="0" i="0">
              <a:solidFill>
                <a:srgbClr val="1F2328"/>
              </a:solidFill>
              <a:effectLst/>
              <a:latin typeface="-apple-system"/>
            </a:endParaRPr>
          </a:p>
          <a:p>
            <a:pPr marL="342900" indent="-342900" algn="l">
              <a:buFont typeface="+mj-lt"/>
              <a:buAutoNum type="arabicPeriod"/>
            </a:pPr>
            <a:r>
              <a:rPr lang="da-DK">
                <a:solidFill>
                  <a:srgbClr val="1F2328"/>
                </a:solidFill>
                <a:latin typeface="-apple-system"/>
              </a:rPr>
              <a:t>D</a:t>
            </a:r>
            <a:r>
              <a:rPr lang="da-DK" b="0" i="0">
                <a:solidFill>
                  <a:srgbClr val="1F2328"/>
                </a:solidFill>
                <a:effectLst/>
                <a:latin typeface="-apple-system"/>
              </a:rPr>
              <a:t>ownloading and searching in the metadata</a:t>
            </a:r>
          </a:p>
          <a:p>
            <a:pPr marL="800100" lvl="1" indent="-342900">
              <a:buFont typeface="+mj-lt"/>
              <a:buAutoNum type="arabicPeriod"/>
            </a:pPr>
            <a:r>
              <a:rPr lang="da-DK" b="1" i="0">
                <a:solidFill>
                  <a:srgbClr val="1F2328"/>
                </a:solidFill>
                <a:effectLst/>
                <a:latin typeface="ui-monospace"/>
              </a:rPr>
              <a:t>get_eurostat_dsd</a:t>
            </a:r>
            <a:r>
              <a:rPr lang="da-DK" b="0" i="0">
                <a:solidFill>
                  <a:srgbClr val="1F2328"/>
                </a:solidFill>
                <a:effectLst/>
                <a:latin typeface="-apple-system"/>
              </a:rPr>
              <a:t>() returns the Data Structure Definition (DSD) of a given dataset containing the possible dimensions and values with their labels.</a:t>
            </a:r>
          </a:p>
          <a:p>
            <a:pPr marL="800100" lvl="1" indent="-342900">
              <a:buFont typeface="+mj-lt"/>
              <a:buAutoNum type="arabicPeriod"/>
            </a:pPr>
            <a:r>
              <a:rPr lang="da-DK" b="1" i="0">
                <a:solidFill>
                  <a:srgbClr val="1F2328"/>
                </a:solidFill>
                <a:effectLst/>
                <a:latin typeface="ui-monospace"/>
              </a:rPr>
              <a:t>search_eurostat_dsd</a:t>
            </a:r>
            <a:r>
              <a:rPr lang="da-DK">
                <a:solidFill>
                  <a:srgbClr val="1F2328"/>
                </a:solidFill>
                <a:latin typeface="-apple-system"/>
              </a:rPr>
              <a:t>() </a:t>
            </a:r>
            <a:r>
              <a:rPr lang="da-DK" b="0" i="0">
                <a:solidFill>
                  <a:srgbClr val="1F2328"/>
                </a:solidFill>
                <a:effectLst/>
                <a:latin typeface="-apple-system"/>
              </a:rPr>
              <a:t>function provides the facility to search for phrase, pattern and regular expressions in the DSD and returns the rows of the DSD where the search string(s) found</a:t>
            </a:r>
          </a:p>
          <a:p>
            <a:pPr marL="800100" lvl="1" indent="-342900">
              <a:buFont typeface="+mj-lt"/>
              <a:buAutoNum type="arabicPeriod"/>
            </a:pPr>
            <a:endParaRPr lang="da-DK" b="0" i="0">
              <a:solidFill>
                <a:srgbClr val="1F2328"/>
              </a:solidFill>
              <a:effectLst/>
              <a:latin typeface="-apple-system"/>
            </a:endParaRPr>
          </a:p>
          <a:p>
            <a:pPr marL="342900" indent="-342900" algn="l">
              <a:buFont typeface="+mj-lt"/>
              <a:buAutoNum type="arabicPeriod"/>
            </a:pPr>
            <a:r>
              <a:rPr lang="da-DK">
                <a:solidFill>
                  <a:srgbClr val="1F2328"/>
                </a:solidFill>
                <a:latin typeface="-apple-system"/>
              </a:rPr>
              <a:t>R</a:t>
            </a:r>
            <a:r>
              <a:rPr lang="da-DK" b="0" i="0">
                <a:solidFill>
                  <a:srgbClr val="1F2328"/>
                </a:solidFill>
                <a:effectLst/>
                <a:latin typeface="-apple-system"/>
              </a:rPr>
              <a:t>etrieving full or partial datasets.</a:t>
            </a:r>
          </a:p>
          <a:p>
            <a:pPr marL="800100" lvl="1" indent="-342900">
              <a:buFont typeface="+mj-lt"/>
              <a:buAutoNum type="arabicPeriod"/>
            </a:pPr>
            <a:r>
              <a:rPr lang="da-DK" b="1" i="0">
                <a:solidFill>
                  <a:srgbClr val="1F2328"/>
                </a:solidFill>
                <a:effectLst/>
                <a:latin typeface="ui-monospace"/>
              </a:rPr>
              <a:t>get_eurostat_data</a:t>
            </a:r>
            <a:r>
              <a:rPr lang="da-DK">
                <a:solidFill>
                  <a:srgbClr val="1F2328"/>
                </a:solidFill>
                <a:latin typeface="-apple-system"/>
              </a:rPr>
              <a:t>() </a:t>
            </a:r>
            <a:r>
              <a:rPr lang="da-DK" b="0" i="0">
                <a:solidFill>
                  <a:srgbClr val="1F2328"/>
                </a:solidFill>
                <a:effectLst/>
                <a:latin typeface="-apple-system"/>
              </a:rPr>
              <a:t>function retrieves a data table which can be labeled using the labels from the DSD. The table can contain the whole datasets or only part of it if filters are applied</a:t>
            </a:r>
          </a:p>
          <a:p>
            <a:pPr marL="800100" lvl="1" indent="-342900">
              <a:buFont typeface="+mj-lt"/>
              <a:buAutoNum type="arabicPeriod"/>
            </a:pPr>
            <a:r>
              <a:rPr lang="da-DK" b="1" i="0">
                <a:solidFill>
                  <a:srgbClr val="1F2328"/>
                </a:solidFill>
                <a:effectLst/>
                <a:latin typeface="ui-monospace"/>
              </a:rPr>
              <a:t>get_eurostat_raw</a:t>
            </a:r>
            <a:r>
              <a:rPr lang="da-DK" b="0" i="0">
                <a:solidFill>
                  <a:srgbClr val="1F2328"/>
                </a:solidFill>
                <a:effectLst/>
                <a:latin typeface="ui-monospace"/>
              </a:rPr>
              <a:t>()</a:t>
            </a:r>
            <a:r>
              <a:rPr lang="da-DK" b="0" i="0">
                <a:solidFill>
                  <a:srgbClr val="1F2328"/>
                </a:solidFill>
                <a:effectLst/>
                <a:latin typeface="-apple-system"/>
              </a:rPr>
              <a:t>  function downloads the full data table as it is either using the TSV format (default) or the SDMX format keeping all the column names and rows as it is in the original files</a:t>
            </a:r>
          </a:p>
        </p:txBody>
      </p:sp>
      <p:pic>
        <p:nvPicPr>
          <p:cNvPr id="8" name="Picture 2" descr="GitHub Logo and symbol, meaning, history, PNG, brand">
            <a:extLst>
              <a:ext uri="{FF2B5EF4-FFF2-40B4-BE49-F238E27FC236}">
                <a16:creationId xmlns:a16="http://schemas.microsoft.com/office/drawing/2014/main" id="{19564E6A-F677-7970-2FBF-E0BC8AC39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42" y="383249"/>
            <a:ext cx="1543370" cy="867292"/>
          </a:xfrm>
          <a:prstGeom prst="rect">
            <a:avLst/>
          </a:prstGeom>
          <a:noFill/>
          <a:extLst>
            <a:ext uri="{909E8E84-426E-40DD-AFC4-6F175D3DCCD1}">
              <a14:hiddenFill xmlns:a14="http://schemas.microsoft.com/office/drawing/2010/main">
                <a:solidFill>
                  <a:srgbClr val="FFFFFF"/>
                </a:solidFill>
              </a14:hiddenFill>
            </a:ext>
          </a:extLst>
        </p:spPr>
      </p:pic>
      <p:pic>
        <p:nvPicPr>
          <p:cNvPr id="3" name="Billede 2" descr="Et billede, der indeholder tekst, Font/skrifttype, skærmbillede, logo&#10;&#10;Automatisk genereret beskrivelse">
            <a:extLst>
              <a:ext uri="{FF2B5EF4-FFF2-40B4-BE49-F238E27FC236}">
                <a16:creationId xmlns:a16="http://schemas.microsoft.com/office/drawing/2014/main" id="{FAC721AD-A414-DBE0-ECE8-962E0F0ADB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8130" y="383249"/>
            <a:ext cx="874719" cy="1015802"/>
          </a:xfrm>
          <a:prstGeom prst="rect">
            <a:avLst/>
          </a:prstGeom>
        </p:spPr>
      </p:pic>
    </p:spTree>
    <p:extLst>
      <p:ext uri="{BB962C8B-B14F-4D97-AF65-F5344CB8AC3E}">
        <p14:creationId xmlns:p14="http://schemas.microsoft.com/office/powerpoint/2010/main" val="3315171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0733B-550A-72D4-F9EB-D24F074BBB1F}"/>
            </a:ext>
          </a:extLst>
        </p:cNvPr>
        <p:cNvGrpSpPr/>
        <p:nvPr/>
      </p:nvGrpSpPr>
      <p:grpSpPr>
        <a:xfrm>
          <a:off x="0" y="0"/>
          <a:ext cx="0" cy="0"/>
          <a:chOff x="0" y="0"/>
          <a:chExt cx="0" cy="0"/>
        </a:xfrm>
      </p:grpSpPr>
      <p:pic>
        <p:nvPicPr>
          <p:cNvPr id="8" name="Picture 2" descr="GitHub Logo and symbol, meaning, history, PNG, brand">
            <a:extLst>
              <a:ext uri="{FF2B5EF4-FFF2-40B4-BE49-F238E27FC236}">
                <a16:creationId xmlns:a16="http://schemas.microsoft.com/office/drawing/2014/main" id="{DB3A5F4B-3CE1-B99A-18ED-A15485756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42" y="383249"/>
            <a:ext cx="1543370" cy="867292"/>
          </a:xfrm>
          <a:prstGeom prst="rect">
            <a:avLst/>
          </a:prstGeom>
          <a:noFill/>
          <a:extLst>
            <a:ext uri="{909E8E84-426E-40DD-AFC4-6F175D3DCCD1}">
              <a14:hiddenFill xmlns:a14="http://schemas.microsoft.com/office/drawing/2010/main">
                <a:solidFill>
                  <a:srgbClr val="FFFFFF"/>
                </a:solidFill>
              </a14:hiddenFill>
            </a:ext>
          </a:extLst>
        </p:spPr>
      </p:pic>
      <p:pic>
        <p:nvPicPr>
          <p:cNvPr id="3" name="Billede 2" descr="Et billede, der indeholder tekst, Font/skrifttype, skærmbillede, logo&#10;&#10;Automatisk genereret beskrivelse">
            <a:extLst>
              <a:ext uri="{FF2B5EF4-FFF2-40B4-BE49-F238E27FC236}">
                <a16:creationId xmlns:a16="http://schemas.microsoft.com/office/drawing/2014/main" id="{DDCCD38E-18A7-D552-53F6-46CB97E7CC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8130" y="383249"/>
            <a:ext cx="874719" cy="1015802"/>
          </a:xfrm>
          <a:prstGeom prst="rect">
            <a:avLst/>
          </a:prstGeom>
        </p:spPr>
      </p:pic>
      <p:sp>
        <p:nvSpPr>
          <p:cNvPr id="6" name="Tekstfelt 5">
            <a:extLst>
              <a:ext uri="{FF2B5EF4-FFF2-40B4-BE49-F238E27FC236}">
                <a16:creationId xmlns:a16="http://schemas.microsoft.com/office/drawing/2014/main" id="{D4FC576F-5DB8-A613-B770-35EEC5273AF2}"/>
              </a:ext>
            </a:extLst>
          </p:cNvPr>
          <p:cNvSpPr txBox="1"/>
          <p:nvPr/>
        </p:nvSpPr>
        <p:spPr>
          <a:xfrm>
            <a:off x="659027" y="2222846"/>
            <a:ext cx="6098058" cy="2308324"/>
          </a:xfrm>
          <a:prstGeom prst="rect">
            <a:avLst/>
          </a:prstGeom>
          <a:noFill/>
        </p:spPr>
        <p:txBody>
          <a:bodyPr wrap="square">
            <a:spAutoFit/>
          </a:bodyPr>
          <a:lstStyle/>
          <a:p>
            <a:r>
              <a:rPr lang="da-DK">
                <a:effectLst/>
              </a:rPr>
              <a:t>dt&lt;-</a:t>
            </a:r>
            <a:r>
              <a:rPr lang="da-DK"/>
              <a:t>get_eurostat_data(</a:t>
            </a:r>
            <a:r>
              <a:rPr lang="da-DK">
                <a:effectLst/>
              </a:rPr>
              <a:t>"bop_its6_det"</a:t>
            </a:r>
            <a:r>
              <a:rPr lang="da-DK"/>
              <a:t>, 	</a:t>
            </a:r>
            <a:r>
              <a:rPr lang="da-DK">
                <a:effectLst/>
              </a:rPr>
              <a:t>filters=list</a:t>
            </a:r>
            <a:r>
              <a:rPr lang="da-DK"/>
              <a:t>(</a:t>
            </a:r>
            <a:r>
              <a:rPr lang="da-DK">
                <a:effectLst/>
              </a:rPr>
              <a:t>bop_item="SC"</a:t>
            </a:r>
            <a:r>
              <a:rPr lang="da-DK"/>
              <a:t>, 					</a:t>
            </a:r>
            <a:r>
              <a:rPr lang="da-DK">
                <a:effectLst/>
              </a:rPr>
              <a:t>partner="EXT_EU27_2020"</a:t>
            </a:r>
            <a:r>
              <a:rPr lang="da-DK"/>
              <a:t>, 				</a:t>
            </a:r>
            <a:r>
              <a:rPr lang="da-DK">
                <a:effectLst/>
              </a:rPr>
              <a:t>geo=</a:t>
            </a:r>
            <a:r>
              <a:rPr lang="da-DK"/>
              <a:t>c(</a:t>
            </a:r>
            <a:r>
              <a:rPr lang="da-DK">
                <a:effectLst/>
              </a:rPr>
              <a:t>"EU27_2020"</a:t>
            </a:r>
            <a:r>
              <a:rPr lang="da-DK"/>
              <a:t>,</a:t>
            </a:r>
            <a:r>
              <a:rPr lang="da-DK">
                <a:effectLst/>
              </a:rPr>
              <a:t>"HU"</a:t>
            </a:r>
            <a:r>
              <a:rPr lang="da-DK"/>
              <a:t>), </a:t>
            </a:r>
          </a:p>
          <a:p>
            <a:r>
              <a:rPr lang="da-DK">
                <a:effectLst/>
              </a:rPr>
              <a:t>		stk_flow="BAL"</a:t>
            </a:r>
            <a:r>
              <a:rPr lang="da-DK"/>
              <a:t>), </a:t>
            </a:r>
          </a:p>
          <a:p>
            <a:r>
              <a:rPr lang="da-DK">
                <a:effectLst/>
              </a:rPr>
              <a:t>	date_filter=2020</a:t>
            </a:r>
            <a:r>
              <a:rPr lang="da-DK"/>
              <a:t>, </a:t>
            </a:r>
          </a:p>
          <a:p>
            <a:r>
              <a:rPr lang="da-DK">
                <a:effectLst/>
              </a:rPr>
              <a:t>	label=TRUE</a:t>
            </a:r>
            <a:r>
              <a:rPr lang="da-DK"/>
              <a:t>, </a:t>
            </a:r>
          </a:p>
          <a:p>
            <a:r>
              <a:rPr lang="da-DK">
                <a:effectLst/>
              </a:rPr>
              <a:t>	name=FALSE</a:t>
            </a:r>
            <a:r>
              <a:rPr lang="da-DK"/>
              <a:t>) </a:t>
            </a:r>
          </a:p>
        </p:txBody>
      </p:sp>
      <p:sp>
        <p:nvSpPr>
          <p:cNvPr id="7" name="Tekstfelt 6">
            <a:extLst>
              <a:ext uri="{FF2B5EF4-FFF2-40B4-BE49-F238E27FC236}">
                <a16:creationId xmlns:a16="http://schemas.microsoft.com/office/drawing/2014/main" id="{46111DEE-607E-C08F-21CC-4F8A211F1AF0}"/>
              </a:ext>
            </a:extLst>
          </p:cNvPr>
          <p:cNvSpPr txBox="1"/>
          <p:nvPr/>
        </p:nvSpPr>
        <p:spPr>
          <a:xfrm>
            <a:off x="685800" y="1828800"/>
            <a:ext cx="5134932" cy="369332"/>
          </a:xfrm>
          <a:prstGeom prst="rect">
            <a:avLst/>
          </a:prstGeom>
          <a:noFill/>
        </p:spPr>
        <p:txBody>
          <a:bodyPr wrap="none" rtlCol="0">
            <a:spAutoFit/>
          </a:bodyPr>
          <a:lstStyle/>
          <a:p>
            <a:r>
              <a:rPr lang="da-DK" b="1">
                <a:solidFill>
                  <a:schemeClr val="accent6"/>
                </a:solidFill>
              </a:rPr>
              <a:t>Eksempel fra https://github.com/eurostat/restatapi</a:t>
            </a:r>
          </a:p>
        </p:txBody>
      </p:sp>
    </p:spTree>
    <p:extLst>
      <p:ext uri="{BB962C8B-B14F-4D97-AF65-F5344CB8AC3E}">
        <p14:creationId xmlns:p14="http://schemas.microsoft.com/office/powerpoint/2010/main" val="1492194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rotWithShape="1">
          <a:blip r:embed="rId2" cstate="print"/>
          <a:srcRect r="67971" b="47034"/>
          <a:stretch/>
        </p:blipFill>
        <p:spPr>
          <a:xfrm>
            <a:off x="306227" y="228601"/>
            <a:ext cx="836774" cy="533399"/>
          </a:xfrm>
          <a:prstGeom prst="rect">
            <a:avLst/>
          </a:prstGeom>
        </p:spPr>
      </p:pic>
      <p:pic>
        <p:nvPicPr>
          <p:cNvPr id="10" name="Billede 9" descr="Et billede, der indeholder tekst, skærmbillede, Font/skrifttype, Tryk&#10;&#10;Automatisk genereret beskrivelse">
            <a:extLst>
              <a:ext uri="{FF2B5EF4-FFF2-40B4-BE49-F238E27FC236}">
                <a16:creationId xmlns:a16="http://schemas.microsoft.com/office/drawing/2014/main" id="{BCBAA595-F1D6-E13D-F277-2AE9549B6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76200"/>
            <a:ext cx="9372013" cy="6553200"/>
          </a:xfrm>
          <a:prstGeom prst="rect">
            <a:avLst/>
          </a:prstGeom>
        </p:spPr>
      </p:pic>
    </p:spTree>
    <p:extLst>
      <p:ext uri="{BB962C8B-B14F-4D97-AF65-F5344CB8AC3E}">
        <p14:creationId xmlns:p14="http://schemas.microsoft.com/office/powerpoint/2010/main" val="180106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rotWithShape="1">
          <a:blip r:embed="rId2" cstate="print"/>
          <a:srcRect r="67971" b="47034"/>
          <a:stretch/>
        </p:blipFill>
        <p:spPr>
          <a:xfrm>
            <a:off x="306227" y="228601"/>
            <a:ext cx="836774" cy="533399"/>
          </a:xfrm>
          <a:prstGeom prst="rect">
            <a:avLst/>
          </a:prstGeom>
        </p:spPr>
      </p:pic>
      <p:pic>
        <p:nvPicPr>
          <p:cNvPr id="10" name="Billede 9" descr="Et billede, der indeholder tekst, skærmbillede, Font/skrifttype, Tryk&#10;&#10;Automatisk genereret beskrivelse">
            <a:extLst>
              <a:ext uri="{FF2B5EF4-FFF2-40B4-BE49-F238E27FC236}">
                <a16:creationId xmlns:a16="http://schemas.microsoft.com/office/drawing/2014/main" id="{BCBAA595-F1D6-E13D-F277-2AE9549B6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76200"/>
            <a:ext cx="9372013" cy="6553200"/>
          </a:xfrm>
          <a:prstGeom prst="rect">
            <a:avLst/>
          </a:prstGeom>
        </p:spPr>
      </p:pic>
      <p:sp>
        <p:nvSpPr>
          <p:cNvPr id="4" name="Rektangel 3">
            <a:extLst>
              <a:ext uri="{FF2B5EF4-FFF2-40B4-BE49-F238E27FC236}">
                <a16:creationId xmlns:a16="http://schemas.microsoft.com/office/drawing/2014/main" id="{324D5216-A72A-3F6A-7D6A-AD157FD36F79}"/>
              </a:ext>
            </a:extLst>
          </p:cNvPr>
          <p:cNvSpPr/>
          <p:nvPr/>
        </p:nvSpPr>
        <p:spPr>
          <a:xfrm>
            <a:off x="1371600" y="762000"/>
            <a:ext cx="2667000" cy="990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Rektangel 4">
            <a:extLst>
              <a:ext uri="{FF2B5EF4-FFF2-40B4-BE49-F238E27FC236}">
                <a16:creationId xmlns:a16="http://schemas.microsoft.com/office/drawing/2014/main" id="{61FE32D6-C66B-0ACE-0852-CB6C2B52FA3F}"/>
              </a:ext>
            </a:extLst>
          </p:cNvPr>
          <p:cNvSpPr/>
          <p:nvPr/>
        </p:nvSpPr>
        <p:spPr>
          <a:xfrm>
            <a:off x="1371600" y="2133600"/>
            <a:ext cx="3124200" cy="1143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6" name="Rektangel 5">
            <a:extLst>
              <a:ext uri="{FF2B5EF4-FFF2-40B4-BE49-F238E27FC236}">
                <a16:creationId xmlns:a16="http://schemas.microsoft.com/office/drawing/2014/main" id="{D1570101-4B3E-AADF-A26D-EC8D4349ED57}"/>
              </a:ext>
            </a:extLst>
          </p:cNvPr>
          <p:cNvSpPr/>
          <p:nvPr/>
        </p:nvSpPr>
        <p:spPr>
          <a:xfrm>
            <a:off x="1400432" y="3682314"/>
            <a:ext cx="3124200" cy="13468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Rektangel 6">
            <a:extLst>
              <a:ext uri="{FF2B5EF4-FFF2-40B4-BE49-F238E27FC236}">
                <a16:creationId xmlns:a16="http://schemas.microsoft.com/office/drawing/2014/main" id="{5C2F32F8-8DB3-ED72-7BAA-A1AB500992F1}"/>
              </a:ext>
            </a:extLst>
          </p:cNvPr>
          <p:cNvSpPr/>
          <p:nvPr/>
        </p:nvSpPr>
        <p:spPr>
          <a:xfrm>
            <a:off x="1400432" y="5493608"/>
            <a:ext cx="3124200" cy="9833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8" name="Rektangel 7">
            <a:extLst>
              <a:ext uri="{FF2B5EF4-FFF2-40B4-BE49-F238E27FC236}">
                <a16:creationId xmlns:a16="http://schemas.microsoft.com/office/drawing/2014/main" id="{B429812C-297A-1277-3BA0-068766931667}"/>
              </a:ext>
            </a:extLst>
          </p:cNvPr>
          <p:cNvSpPr/>
          <p:nvPr/>
        </p:nvSpPr>
        <p:spPr>
          <a:xfrm>
            <a:off x="4572002" y="1150208"/>
            <a:ext cx="3124200" cy="9833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2397787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rotWithShape="1">
          <a:blip r:embed="rId2" cstate="print"/>
          <a:srcRect r="67971" b="47034"/>
          <a:stretch/>
        </p:blipFill>
        <p:spPr>
          <a:xfrm>
            <a:off x="306227" y="228601"/>
            <a:ext cx="836774" cy="533399"/>
          </a:xfrm>
          <a:prstGeom prst="rect">
            <a:avLst/>
          </a:prstGeom>
        </p:spPr>
      </p:pic>
      <p:pic>
        <p:nvPicPr>
          <p:cNvPr id="10" name="Billede 9" descr="Et billede, der indeholder tekst, skærmbillede, Font/skrifttype, Tryk&#10;&#10;Automatisk genereret beskrivelse">
            <a:extLst>
              <a:ext uri="{FF2B5EF4-FFF2-40B4-BE49-F238E27FC236}">
                <a16:creationId xmlns:a16="http://schemas.microsoft.com/office/drawing/2014/main" id="{BCBAA595-F1D6-E13D-F277-2AE9549B6506}"/>
              </a:ext>
            </a:extLst>
          </p:cNvPr>
          <p:cNvPicPr>
            <a:picLocks noChangeAspect="1"/>
          </p:cNvPicPr>
          <p:nvPr/>
        </p:nvPicPr>
        <p:blipFill rotWithShape="1">
          <a:blip r:embed="rId3">
            <a:extLst>
              <a:ext uri="{28A0092B-C50C-407E-A947-70E740481C1C}">
                <a14:useLocalDpi xmlns:a14="http://schemas.microsoft.com/office/drawing/2010/main" val="0"/>
              </a:ext>
            </a:extLst>
          </a:blip>
          <a:srcRect t="45348" r="65038" b="24419"/>
          <a:stretch/>
        </p:blipFill>
        <p:spPr>
          <a:xfrm>
            <a:off x="533400" y="1066800"/>
            <a:ext cx="6301154" cy="3810000"/>
          </a:xfrm>
          <a:prstGeom prst="rect">
            <a:avLst/>
          </a:prstGeom>
        </p:spPr>
      </p:pic>
      <p:sp>
        <p:nvSpPr>
          <p:cNvPr id="4" name="Tekstfelt 3">
            <a:extLst>
              <a:ext uri="{FF2B5EF4-FFF2-40B4-BE49-F238E27FC236}">
                <a16:creationId xmlns:a16="http://schemas.microsoft.com/office/drawing/2014/main" id="{A54F5553-3E64-D537-98A6-84B3A5E95ED6}"/>
              </a:ext>
            </a:extLst>
          </p:cNvPr>
          <p:cNvSpPr txBox="1"/>
          <p:nvPr/>
        </p:nvSpPr>
        <p:spPr>
          <a:xfrm>
            <a:off x="5921738" y="609600"/>
            <a:ext cx="6301154" cy="1754326"/>
          </a:xfrm>
          <a:prstGeom prst="rect">
            <a:avLst/>
          </a:prstGeom>
          <a:noFill/>
        </p:spPr>
        <p:txBody>
          <a:bodyPr wrap="square">
            <a:spAutoFit/>
          </a:bodyPr>
          <a:lstStyle/>
          <a:p>
            <a:r>
              <a:rPr lang="da-DK">
                <a:effectLst/>
                <a:latin typeface="Helvetica" pitchFamily="2" charset="0"/>
              </a:rPr>
              <a:t>tmp &lt;- get_eurostat ("cdh_e_fos")</a:t>
            </a:r>
          </a:p>
          <a:p>
            <a:r>
              <a:rPr lang="da-DK">
                <a:latin typeface="Helvetica" pitchFamily="2" charset="0"/>
              </a:rPr>
              <a:t>yy &lt;- get_eurostat(id = "nrg_pc_202", filters = list(</a:t>
            </a:r>
          </a:p>
          <a:p>
            <a:r>
              <a:rPr lang="da-DK">
                <a:latin typeface="Helvetica" pitchFamily="2" charset="0"/>
              </a:rPr>
              <a:t>  geo = c("EU28", "FI"),</a:t>
            </a:r>
          </a:p>
          <a:p>
            <a:r>
              <a:rPr lang="da-DK">
                <a:latin typeface="Helvetica" pitchFamily="2" charset="0"/>
              </a:rPr>
              <a:t>  unit = "EUR_HAB",</a:t>
            </a:r>
          </a:p>
          <a:p>
            <a:r>
              <a:rPr lang="da-DK">
                <a:latin typeface="Helvetica" pitchFamily="2" charset="0"/>
              </a:rPr>
              <a:t>  indic_na = "B1GM"</a:t>
            </a:r>
          </a:p>
          <a:p>
            <a:r>
              <a:rPr lang="da-DK">
                <a:latin typeface="Helvetica" pitchFamily="2" charset="0"/>
              </a:rPr>
              <a:t>))</a:t>
            </a:r>
          </a:p>
        </p:txBody>
      </p:sp>
    </p:spTree>
    <p:extLst>
      <p:ext uri="{BB962C8B-B14F-4D97-AF65-F5344CB8AC3E}">
        <p14:creationId xmlns:p14="http://schemas.microsoft.com/office/powerpoint/2010/main" val="35875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8600" y="762000"/>
            <a:ext cx="3717035" cy="3421449"/>
          </a:xfrm>
          <a:prstGeom prst="rect">
            <a:avLst/>
          </a:prstGeom>
        </p:spPr>
        <p:txBody>
          <a:bodyPr vert="horz" wrap="square" lIns="0" tIns="462280" rIns="0" bIns="0" rtlCol="0">
            <a:spAutoFit/>
          </a:bodyPr>
          <a:lstStyle/>
          <a:p>
            <a:pPr algn="ctr">
              <a:spcBef>
                <a:spcPts val="3640"/>
              </a:spcBef>
            </a:pPr>
            <a:r>
              <a:rPr lang="da-DK" sz="7200" spc="-25" dirty="0"/>
              <a:t>Eurostat</a:t>
            </a:r>
            <a:br>
              <a:rPr lang="da-DK" spc="-25" dirty="0"/>
            </a:br>
            <a:r>
              <a:rPr lang="da-DK" spc="-25" dirty="0"/>
              <a:t>De unge mødre</a:t>
            </a:r>
            <a:endParaRPr spc="-25" dirty="0"/>
          </a:p>
        </p:txBody>
      </p:sp>
    </p:spTree>
    <p:extLst>
      <p:ext uri="{BB962C8B-B14F-4D97-AF65-F5344CB8AC3E}">
        <p14:creationId xmlns:p14="http://schemas.microsoft.com/office/powerpoint/2010/main" val="3434563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rotWithShape="1">
          <a:blip r:embed="rId2" cstate="print"/>
          <a:srcRect r="67971" b="47034"/>
          <a:stretch/>
        </p:blipFill>
        <p:spPr>
          <a:xfrm>
            <a:off x="306227" y="228601"/>
            <a:ext cx="836774" cy="533399"/>
          </a:xfrm>
          <a:prstGeom prst="rect">
            <a:avLst/>
          </a:prstGeom>
        </p:spPr>
      </p:pic>
      <p:pic>
        <p:nvPicPr>
          <p:cNvPr id="5" name="Billede 4" descr="Et billede, der indeholder tekst, kort, skærmbillede, atlas&#10;&#10;Automatisk genereret beskrivelse">
            <a:extLst>
              <a:ext uri="{FF2B5EF4-FFF2-40B4-BE49-F238E27FC236}">
                <a16:creationId xmlns:a16="http://schemas.microsoft.com/office/drawing/2014/main" id="{C26DA61A-9CB9-86AD-941E-B0E5EC61B6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244267"/>
            <a:ext cx="7359650" cy="5915233"/>
          </a:xfrm>
          <a:prstGeom prst="rect">
            <a:avLst/>
          </a:prstGeom>
        </p:spPr>
      </p:pic>
    </p:spTree>
    <p:extLst>
      <p:ext uri="{BB962C8B-B14F-4D97-AF65-F5344CB8AC3E}">
        <p14:creationId xmlns:p14="http://schemas.microsoft.com/office/powerpoint/2010/main" val="1120046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357" y="1447800"/>
            <a:ext cx="9903461" cy="689932"/>
          </a:xfrm>
          <a:prstGeom prst="rect">
            <a:avLst/>
          </a:prstGeom>
        </p:spPr>
        <p:txBody>
          <a:bodyPr vert="horz" wrap="square" lIns="0" tIns="12700" rIns="0" bIns="0" rtlCol="0">
            <a:spAutoFit/>
          </a:bodyPr>
          <a:lstStyle/>
          <a:p>
            <a:pPr marL="12700">
              <a:lnSpc>
                <a:spcPct val="100000"/>
              </a:lnSpc>
              <a:spcBef>
                <a:spcPts val="100"/>
              </a:spcBef>
            </a:pPr>
            <a:r>
              <a:rPr sz="4400" spc="-20" dirty="0"/>
              <a:t>Data-retrieval</a:t>
            </a:r>
            <a:r>
              <a:rPr sz="4400" spc="-5" dirty="0"/>
              <a:t> CASE:</a:t>
            </a:r>
            <a:r>
              <a:rPr sz="4400" spc="-20" dirty="0"/>
              <a:t> </a:t>
            </a:r>
            <a:r>
              <a:rPr lang="da-DK" sz="4400" spc="-35" dirty="0"/>
              <a:t>EU’s unge mødre</a:t>
            </a:r>
            <a:endParaRPr sz="4400"/>
          </a:p>
        </p:txBody>
      </p:sp>
      <p:pic>
        <p:nvPicPr>
          <p:cNvPr id="3" name="object 3"/>
          <p:cNvPicPr/>
          <p:nvPr/>
        </p:nvPicPr>
        <p:blipFill>
          <a:blip r:embed="rId2" cstate="print"/>
          <a:stretch>
            <a:fillRect/>
          </a:stretch>
        </p:blipFill>
        <p:spPr>
          <a:xfrm>
            <a:off x="381000" y="314561"/>
            <a:ext cx="2612559" cy="1007075"/>
          </a:xfrm>
          <a:prstGeom prst="rect">
            <a:avLst/>
          </a:prstGeom>
        </p:spPr>
      </p:pic>
      <p:sp>
        <p:nvSpPr>
          <p:cNvPr id="4" name="object 4"/>
          <p:cNvSpPr txBox="1"/>
          <p:nvPr/>
        </p:nvSpPr>
        <p:spPr>
          <a:xfrm>
            <a:off x="393357" y="2276253"/>
            <a:ext cx="6864984" cy="3103414"/>
          </a:xfrm>
          <a:prstGeom prst="rect">
            <a:avLst/>
          </a:prstGeom>
        </p:spPr>
        <p:txBody>
          <a:bodyPr vert="horz" wrap="square" lIns="0" tIns="12700" rIns="0" bIns="0" rtlCol="0">
            <a:spAutoFit/>
          </a:bodyPr>
          <a:lstStyle/>
          <a:p>
            <a:pPr marL="355600" indent="-342900">
              <a:lnSpc>
                <a:spcPts val="2125"/>
              </a:lnSpc>
              <a:spcBef>
                <a:spcPts val="100"/>
              </a:spcBef>
              <a:buAutoNum type="arabicPeriod"/>
              <a:tabLst>
                <a:tab pos="354965" algn="l"/>
                <a:tab pos="355600" algn="l"/>
              </a:tabLst>
            </a:pPr>
            <a:r>
              <a:rPr lang="da-DK" sz="1800" spc="-5" dirty="0">
                <a:latin typeface="Calibri"/>
                <a:cs typeface="Calibri"/>
              </a:rPr>
              <a:t>Find tabel om fødsler</a:t>
            </a:r>
          </a:p>
          <a:p>
            <a:pPr marL="355600" indent="-342900">
              <a:lnSpc>
                <a:spcPts val="2125"/>
              </a:lnSpc>
              <a:spcBef>
                <a:spcPts val="100"/>
              </a:spcBef>
              <a:buAutoNum type="arabicPeriod"/>
              <a:tabLst>
                <a:tab pos="354965" algn="l"/>
                <a:tab pos="355600" algn="l"/>
              </a:tabLst>
            </a:pPr>
            <a:r>
              <a:rPr lang="da-DK" spc="-5" dirty="0">
                <a:latin typeface="Calibri"/>
                <a:cs typeface="Calibri"/>
              </a:rPr>
              <a:t>Eksperimenter med filtre</a:t>
            </a:r>
          </a:p>
          <a:p>
            <a:pPr marL="812800" lvl="1" indent="-342900">
              <a:lnSpc>
                <a:spcPts val="2125"/>
              </a:lnSpc>
              <a:spcBef>
                <a:spcPts val="100"/>
              </a:spcBef>
              <a:buAutoNum type="arabicPeriod"/>
              <a:tabLst>
                <a:tab pos="354965" algn="l"/>
                <a:tab pos="355600" algn="l"/>
              </a:tabLst>
            </a:pPr>
            <a:r>
              <a:rPr lang="da-DK">
                <a:latin typeface="Calibri"/>
                <a:cs typeface="Calibri"/>
              </a:rPr>
              <a:t>Kig i koden og kør eks</a:t>
            </a:r>
          </a:p>
          <a:p>
            <a:pPr marL="355600" indent="-342900">
              <a:lnSpc>
                <a:spcPts val="2125"/>
              </a:lnSpc>
              <a:spcBef>
                <a:spcPts val="100"/>
              </a:spcBef>
              <a:buAutoNum type="arabicPeriod"/>
              <a:tabLst>
                <a:tab pos="354965" algn="l"/>
                <a:tab pos="355600" algn="l"/>
              </a:tabLst>
            </a:pPr>
            <a:r>
              <a:rPr lang="da-DK">
                <a:latin typeface="Calibri"/>
                <a:cs typeface="Calibri"/>
              </a:rPr>
              <a:t>Hent alle data og inspicer obs-typer (variabler)</a:t>
            </a:r>
          </a:p>
          <a:p>
            <a:pPr marL="812800" lvl="1" indent="-342900">
              <a:lnSpc>
                <a:spcPts val="2125"/>
              </a:lnSpc>
              <a:spcBef>
                <a:spcPts val="100"/>
              </a:spcBef>
              <a:buAutoNum type="arabicPeriod"/>
              <a:tabLst>
                <a:tab pos="354965" algn="l"/>
                <a:tab pos="355600" algn="l"/>
              </a:tabLst>
            </a:pPr>
            <a:r>
              <a:rPr lang="da-DK">
                <a:latin typeface="Calibri"/>
                <a:cs typeface="Calibri"/>
              </a:rPr>
              <a:t>Tjek for NA</a:t>
            </a:r>
          </a:p>
          <a:p>
            <a:pPr marL="812800" lvl="1" indent="-342900">
              <a:lnSpc>
                <a:spcPts val="2125"/>
              </a:lnSpc>
              <a:spcBef>
                <a:spcPts val="100"/>
              </a:spcBef>
              <a:buAutoNum type="arabicPeriod"/>
              <a:tabLst>
                <a:tab pos="354965" algn="l"/>
                <a:tab pos="355600" algn="l"/>
              </a:tabLst>
            </a:pPr>
            <a:r>
              <a:rPr lang="da-DK">
                <a:latin typeface="Calibri"/>
                <a:cs typeface="Calibri"/>
              </a:rPr>
              <a:t>Filtrer så du kun har lande (ikke aggregerede observationer)</a:t>
            </a:r>
          </a:p>
          <a:p>
            <a:pPr marL="355600" indent="-342900">
              <a:lnSpc>
                <a:spcPts val="2125"/>
              </a:lnSpc>
              <a:spcBef>
                <a:spcPts val="100"/>
              </a:spcBef>
              <a:buAutoNum type="arabicPeriod"/>
              <a:tabLst>
                <a:tab pos="354965" algn="l"/>
                <a:tab pos="355600" algn="l"/>
              </a:tabLst>
            </a:pPr>
            <a:r>
              <a:rPr lang="da-DK">
                <a:latin typeface="Calibri"/>
                <a:cs typeface="Calibri"/>
              </a:rPr>
              <a:t>Tjek plot for teenagers i udvalgte lande</a:t>
            </a:r>
          </a:p>
          <a:p>
            <a:pPr marL="812800" lvl="1" indent="-342900">
              <a:lnSpc>
                <a:spcPts val="2125"/>
              </a:lnSpc>
              <a:spcBef>
                <a:spcPts val="100"/>
              </a:spcBef>
              <a:buAutoNum type="arabicPeriod"/>
              <a:tabLst>
                <a:tab pos="354965" algn="l"/>
                <a:tab pos="355600" algn="l"/>
              </a:tabLst>
            </a:pPr>
            <a:r>
              <a:rPr lang="da-DK">
                <a:latin typeface="Calibri"/>
                <a:cs typeface="Calibri"/>
              </a:rPr>
              <a:t>Find de lande som du vil sammenligne med</a:t>
            </a:r>
          </a:p>
          <a:p>
            <a:pPr marL="812800" lvl="1" indent="-342900">
              <a:lnSpc>
                <a:spcPts val="2125"/>
              </a:lnSpc>
              <a:spcBef>
                <a:spcPts val="100"/>
              </a:spcBef>
              <a:buAutoNum type="arabicPeriod"/>
              <a:tabLst>
                <a:tab pos="354965" algn="l"/>
                <a:tab pos="355600" algn="l"/>
              </a:tabLst>
            </a:pPr>
            <a:r>
              <a:rPr lang="da-DK">
                <a:latin typeface="Calibri"/>
                <a:cs typeface="Calibri"/>
              </a:rPr>
              <a:t>Find det range af årstal som dækker alle lande</a:t>
            </a:r>
          </a:p>
          <a:p>
            <a:pPr marL="355600" indent="-342900">
              <a:lnSpc>
                <a:spcPts val="2125"/>
              </a:lnSpc>
              <a:spcBef>
                <a:spcPts val="100"/>
              </a:spcBef>
              <a:buAutoNum type="arabicPeriod"/>
              <a:tabLst>
                <a:tab pos="354965" algn="l"/>
                <a:tab pos="355600" algn="l"/>
              </a:tabLst>
            </a:pPr>
            <a:r>
              <a:rPr lang="da-DK">
                <a:latin typeface="Calibri"/>
                <a:cs typeface="Calibri"/>
              </a:rPr>
              <a:t>Skal gøres relativt i forhold til start-værdien</a:t>
            </a:r>
          </a:p>
          <a:p>
            <a:pPr marL="812800" lvl="1" indent="-342900">
              <a:lnSpc>
                <a:spcPts val="2125"/>
              </a:lnSpc>
              <a:spcBef>
                <a:spcPts val="100"/>
              </a:spcBef>
              <a:buAutoNum type="arabicPeriod"/>
              <a:tabLst>
                <a:tab pos="354965" algn="l"/>
                <a:tab pos="355600" algn="l"/>
              </a:tabLst>
            </a:pPr>
            <a:endParaRPr lang="da-DK">
              <a:latin typeface="Calibri"/>
              <a:cs typeface="Calibri"/>
            </a:endParaRPr>
          </a:p>
        </p:txBody>
      </p:sp>
      <p:pic>
        <p:nvPicPr>
          <p:cNvPr id="6" name="Billede 5" descr="Et billede, der indeholder diagram, Kurve, linje/række, skærmbillede&#10;&#10;Automatisk genereret beskrivelse">
            <a:extLst>
              <a:ext uri="{FF2B5EF4-FFF2-40B4-BE49-F238E27FC236}">
                <a16:creationId xmlns:a16="http://schemas.microsoft.com/office/drawing/2014/main" id="{D2CDE988-7380-7F0C-51FB-3C1CDD01E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3829" y="2514600"/>
            <a:ext cx="5009803" cy="3869932"/>
          </a:xfrm>
          <a:prstGeom prst="rect">
            <a:avLst/>
          </a:prstGeom>
        </p:spPr>
      </p:pic>
    </p:spTree>
    <p:extLst>
      <p:ext uri="{BB962C8B-B14F-4D97-AF65-F5344CB8AC3E}">
        <p14:creationId xmlns:p14="http://schemas.microsoft.com/office/powerpoint/2010/main" val="1200990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Billede 11" descr="Et billede, der indeholder tekst, Webside, Website, software&#10;&#10;Automatisk genereret beskrivelse">
            <a:extLst>
              <a:ext uri="{FF2B5EF4-FFF2-40B4-BE49-F238E27FC236}">
                <a16:creationId xmlns:a16="http://schemas.microsoft.com/office/drawing/2014/main" id="{1774E614-8C99-39ED-BF09-6814F4C6F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73" y="762000"/>
            <a:ext cx="7772400" cy="4901674"/>
          </a:xfrm>
          <a:prstGeom prst="rect">
            <a:avLst/>
          </a:prstGeom>
        </p:spPr>
      </p:pic>
      <p:pic>
        <p:nvPicPr>
          <p:cNvPr id="3" name="object 3"/>
          <p:cNvPicPr/>
          <p:nvPr/>
        </p:nvPicPr>
        <p:blipFill rotWithShape="1">
          <a:blip r:embed="rId3" cstate="print"/>
          <a:srcRect r="67971" b="47034"/>
          <a:stretch/>
        </p:blipFill>
        <p:spPr>
          <a:xfrm>
            <a:off x="306227" y="228601"/>
            <a:ext cx="836774" cy="533399"/>
          </a:xfrm>
          <a:prstGeom prst="rect">
            <a:avLst/>
          </a:prstGeom>
        </p:spPr>
      </p:pic>
      <p:sp>
        <p:nvSpPr>
          <p:cNvPr id="2" name="Tekstfelt 1">
            <a:extLst>
              <a:ext uri="{FF2B5EF4-FFF2-40B4-BE49-F238E27FC236}">
                <a16:creationId xmlns:a16="http://schemas.microsoft.com/office/drawing/2014/main" id="{F03E2868-1237-3D45-ABD4-EC775FEA8181}"/>
              </a:ext>
            </a:extLst>
          </p:cNvPr>
          <p:cNvSpPr txBox="1"/>
          <p:nvPr/>
        </p:nvSpPr>
        <p:spPr>
          <a:xfrm>
            <a:off x="1224114" y="146562"/>
            <a:ext cx="2224840" cy="646331"/>
          </a:xfrm>
          <a:prstGeom prst="rect">
            <a:avLst/>
          </a:prstGeom>
          <a:noFill/>
        </p:spPr>
        <p:txBody>
          <a:bodyPr wrap="none" rtlCol="0">
            <a:spAutoFit/>
          </a:bodyPr>
          <a:lstStyle/>
          <a:p>
            <a:r>
              <a:rPr lang="da-DK" sz="3600">
                <a:solidFill>
                  <a:schemeClr val="accent2"/>
                </a:solidFill>
              </a:rPr>
              <a:t>Metadata I</a:t>
            </a:r>
            <a:endParaRPr lang="da-DK">
              <a:solidFill>
                <a:schemeClr val="accent2"/>
              </a:solidFill>
            </a:endParaRPr>
          </a:p>
        </p:txBody>
      </p:sp>
      <p:pic>
        <p:nvPicPr>
          <p:cNvPr id="6" name="Billede 5" descr="Et billede, der indeholder tekst, skærmbillede, software, Webside&#10;&#10;Automatisk genereret beskrivelse">
            <a:extLst>
              <a:ext uri="{FF2B5EF4-FFF2-40B4-BE49-F238E27FC236}">
                <a16:creationId xmlns:a16="http://schemas.microsoft.com/office/drawing/2014/main" id="{6E3345B0-3DA0-D0CF-CE06-65DE272E82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3373" y="203887"/>
            <a:ext cx="7772400" cy="3828541"/>
          </a:xfrm>
          <a:prstGeom prst="rect">
            <a:avLst/>
          </a:prstGeom>
        </p:spPr>
      </p:pic>
      <p:pic>
        <p:nvPicPr>
          <p:cNvPr id="8" name="Billede 7" descr="Et billede, der indeholder tekst, skærmbillede, Font/skrifttype, kvittering&#10;&#10;Automatisk genereret beskrivelse">
            <a:extLst>
              <a:ext uri="{FF2B5EF4-FFF2-40B4-BE49-F238E27FC236}">
                <a16:creationId xmlns:a16="http://schemas.microsoft.com/office/drawing/2014/main" id="{BED1F548-1690-64CB-A1BE-F5C934350977}"/>
              </a:ext>
            </a:extLst>
          </p:cNvPr>
          <p:cNvPicPr>
            <a:picLocks noChangeAspect="1"/>
          </p:cNvPicPr>
          <p:nvPr/>
        </p:nvPicPr>
        <p:blipFill rotWithShape="1">
          <a:blip r:embed="rId5">
            <a:extLst>
              <a:ext uri="{28A0092B-C50C-407E-A947-70E740481C1C}">
                <a14:useLocalDpi xmlns:a14="http://schemas.microsoft.com/office/drawing/2010/main" val="0"/>
              </a:ext>
            </a:extLst>
          </a:blip>
          <a:srcRect l="6171" t="9505" r="7842" b="10256"/>
          <a:stretch/>
        </p:blipFill>
        <p:spPr>
          <a:xfrm>
            <a:off x="3429714" y="5137842"/>
            <a:ext cx="6139736" cy="1473459"/>
          </a:xfrm>
          <a:prstGeom prst="rect">
            <a:avLst/>
          </a:prstGeom>
        </p:spPr>
      </p:pic>
      <p:pic>
        <p:nvPicPr>
          <p:cNvPr id="10" name="Billede 9" descr="Et billede, der indeholder tekst, skærmbillede, Font/skrifttype, nummer/tal&#10;&#10;Automatisk genereret beskrivelse">
            <a:extLst>
              <a:ext uri="{FF2B5EF4-FFF2-40B4-BE49-F238E27FC236}">
                <a16:creationId xmlns:a16="http://schemas.microsoft.com/office/drawing/2014/main" id="{C919F68F-8406-E426-C994-98791968B6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86600" y="2782760"/>
            <a:ext cx="4965700" cy="1835150"/>
          </a:xfrm>
          <a:prstGeom prst="rect">
            <a:avLst/>
          </a:prstGeom>
        </p:spPr>
      </p:pic>
      <mc:AlternateContent xmlns:mc="http://schemas.openxmlformats.org/markup-compatibility/2006" xmlns:p14="http://schemas.microsoft.com/office/powerpoint/2010/main">
        <mc:Choice Requires="p14">
          <p:contentPart p14:bwMode="auto" r:id="rId7">
            <p14:nvContentPartPr>
              <p14:cNvPr id="13" name="Håndskrift 12">
                <a:extLst>
                  <a:ext uri="{FF2B5EF4-FFF2-40B4-BE49-F238E27FC236}">
                    <a16:creationId xmlns:a16="http://schemas.microsoft.com/office/drawing/2014/main" id="{397CAC45-96EC-0F16-A22E-E31752CEF7B5}"/>
                  </a:ext>
                </a:extLst>
              </p14:cNvPr>
              <p14:cNvContentPartPr/>
              <p14:nvPr/>
            </p14:nvContentPartPr>
            <p14:xfrm>
              <a:off x="2606254" y="2617550"/>
              <a:ext cx="491760" cy="12960"/>
            </p14:xfrm>
          </p:contentPart>
        </mc:Choice>
        <mc:Fallback xmlns="">
          <p:pic>
            <p:nvPicPr>
              <p:cNvPr id="13" name="Håndskrift 12">
                <a:extLst>
                  <a:ext uri="{FF2B5EF4-FFF2-40B4-BE49-F238E27FC236}">
                    <a16:creationId xmlns:a16="http://schemas.microsoft.com/office/drawing/2014/main" id="{397CAC45-96EC-0F16-A22E-E31752CEF7B5}"/>
                  </a:ext>
                </a:extLst>
              </p:cNvPr>
              <p:cNvPicPr/>
              <p:nvPr/>
            </p:nvPicPr>
            <p:blipFill>
              <a:blip r:embed="rId8"/>
              <a:stretch>
                <a:fillRect/>
              </a:stretch>
            </p:blipFill>
            <p:spPr>
              <a:xfrm>
                <a:off x="2601934" y="2613230"/>
                <a:ext cx="5004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Håndskrift 13">
                <a:extLst>
                  <a:ext uri="{FF2B5EF4-FFF2-40B4-BE49-F238E27FC236}">
                    <a16:creationId xmlns:a16="http://schemas.microsoft.com/office/drawing/2014/main" id="{8BEC8B78-E711-DBC2-84BC-1B0AC54DFD4D}"/>
                  </a:ext>
                </a:extLst>
              </p14:cNvPr>
              <p14:cNvContentPartPr/>
              <p14:nvPr/>
            </p14:nvContentPartPr>
            <p14:xfrm>
              <a:off x="2978134" y="2778830"/>
              <a:ext cx="401400" cy="3121560"/>
            </p14:xfrm>
          </p:contentPart>
        </mc:Choice>
        <mc:Fallback xmlns="">
          <p:pic>
            <p:nvPicPr>
              <p:cNvPr id="14" name="Håndskrift 13">
                <a:extLst>
                  <a:ext uri="{FF2B5EF4-FFF2-40B4-BE49-F238E27FC236}">
                    <a16:creationId xmlns:a16="http://schemas.microsoft.com/office/drawing/2014/main" id="{8BEC8B78-E711-DBC2-84BC-1B0AC54DFD4D}"/>
                  </a:ext>
                </a:extLst>
              </p:cNvPr>
              <p:cNvPicPr/>
              <p:nvPr/>
            </p:nvPicPr>
            <p:blipFill>
              <a:blip r:embed="rId10"/>
              <a:stretch>
                <a:fillRect/>
              </a:stretch>
            </p:blipFill>
            <p:spPr>
              <a:xfrm>
                <a:off x="2973814" y="2774510"/>
                <a:ext cx="410040" cy="3130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Håndskrift 14">
                <a:extLst>
                  <a:ext uri="{FF2B5EF4-FFF2-40B4-BE49-F238E27FC236}">
                    <a16:creationId xmlns:a16="http://schemas.microsoft.com/office/drawing/2014/main" id="{6B7CD3C3-D75F-DFE7-55AE-85862F500EDE}"/>
                  </a:ext>
                </a:extLst>
              </p14:cNvPr>
              <p14:cNvContentPartPr/>
              <p14:nvPr/>
            </p14:nvContentPartPr>
            <p14:xfrm>
              <a:off x="4626574" y="2464190"/>
              <a:ext cx="793440" cy="3469320"/>
            </p14:xfrm>
          </p:contentPart>
        </mc:Choice>
        <mc:Fallback xmlns="">
          <p:pic>
            <p:nvPicPr>
              <p:cNvPr id="15" name="Håndskrift 14">
                <a:extLst>
                  <a:ext uri="{FF2B5EF4-FFF2-40B4-BE49-F238E27FC236}">
                    <a16:creationId xmlns:a16="http://schemas.microsoft.com/office/drawing/2014/main" id="{6B7CD3C3-D75F-DFE7-55AE-85862F500EDE}"/>
                  </a:ext>
                </a:extLst>
              </p:cNvPr>
              <p:cNvPicPr/>
              <p:nvPr/>
            </p:nvPicPr>
            <p:blipFill>
              <a:blip r:embed="rId12"/>
              <a:stretch>
                <a:fillRect/>
              </a:stretch>
            </p:blipFill>
            <p:spPr>
              <a:xfrm>
                <a:off x="4622254" y="2459870"/>
                <a:ext cx="802080" cy="3477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Håndskrift 15">
                <a:extLst>
                  <a:ext uri="{FF2B5EF4-FFF2-40B4-BE49-F238E27FC236}">
                    <a16:creationId xmlns:a16="http://schemas.microsoft.com/office/drawing/2014/main" id="{1311B331-25AA-AF0A-475A-9F7537E78CB6}"/>
                  </a:ext>
                </a:extLst>
              </p14:cNvPr>
              <p14:cNvContentPartPr/>
              <p14:nvPr/>
            </p14:nvContentPartPr>
            <p14:xfrm>
              <a:off x="6016894" y="3371750"/>
              <a:ext cx="1168920" cy="444240"/>
            </p14:xfrm>
          </p:contentPart>
        </mc:Choice>
        <mc:Fallback xmlns="">
          <p:pic>
            <p:nvPicPr>
              <p:cNvPr id="16" name="Håndskrift 15">
                <a:extLst>
                  <a:ext uri="{FF2B5EF4-FFF2-40B4-BE49-F238E27FC236}">
                    <a16:creationId xmlns:a16="http://schemas.microsoft.com/office/drawing/2014/main" id="{1311B331-25AA-AF0A-475A-9F7537E78CB6}"/>
                  </a:ext>
                </a:extLst>
              </p:cNvPr>
              <p:cNvPicPr/>
              <p:nvPr/>
            </p:nvPicPr>
            <p:blipFill>
              <a:blip r:embed="rId14"/>
              <a:stretch>
                <a:fillRect/>
              </a:stretch>
            </p:blipFill>
            <p:spPr>
              <a:xfrm>
                <a:off x="6012574" y="3367430"/>
                <a:ext cx="1177560" cy="452880"/>
              </a:xfrm>
              <a:prstGeom prst="rect">
                <a:avLst/>
              </a:prstGeom>
            </p:spPr>
          </p:pic>
        </mc:Fallback>
      </mc:AlternateContent>
    </p:spTree>
    <p:extLst>
      <p:ext uri="{BB962C8B-B14F-4D97-AF65-F5344CB8AC3E}">
        <p14:creationId xmlns:p14="http://schemas.microsoft.com/office/powerpoint/2010/main" val="2150735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rotWithShape="1">
          <a:blip r:embed="rId2" cstate="print"/>
          <a:srcRect r="67971" b="47034"/>
          <a:stretch/>
        </p:blipFill>
        <p:spPr>
          <a:xfrm>
            <a:off x="306227" y="228601"/>
            <a:ext cx="836774" cy="533399"/>
          </a:xfrm>
          <a:prstGeom prst="rect">
            <a:avLst/>
          </a:prstGeom>
        </p:spPr>
      </p:pic>
      <p:sp>
        <p:nvSpPr>
          <p:cNvPr id="2" name="Tekstfelt 1">
            <a:extLst>
              <a:ext uri="{FF2B5EF4-FFF2-40B4-BE49-F238E27FC236}">
                <a16:creationId xmlns:a16="http://schemas.microsoft.com/office/drawing/2014/main" id="{F03E2868-1237-3D45-ABD4-EC775FEA8181}"/>
              </a:ext>
            </a:extLst>
          </p:cNvPr>
          <p:cNvSpPr txBox="1"/>
          <p:nvPr/>
        </p:nvSpPr>
        <p:spPr>
          <a:xfrm>
            <a:off x="1143001" y="172134"/>
            <a:ext cx="2341860" cy="646331"/>
          </a:xfrm>
          <a:prstGeom prst="rect">
            <a:avLst/>
          </a:prstGeom>
          <a:noFill/>
        </p:spPr>
        <p:txBody>
          <a:bodyPr wrap="none" rtlCol="0">
            <a:spAutoFit/>
          </a:bodyPr>
          <a:lstStyle/>
          <a:p>
            <a:r>
              <a:rPr lang="da-DK" sz="3600">
                <a:solidFill>
                  <a:schemeClr val="accent2"/>
                </a:solidFill>
              </a:rPr>
              <a:t>Metadata II</a:t>
            </a:r>
            <a:endParaRPr lang="da-DK">
              <a:solidFill>
                <a:schemeClr val="accent2"/>
              </a:solidFill>
            </a:endParaRPr>
          </a:p>
        </p:txBody>
      </p:sp>
      <p:pic>
        <p:nvPicPr>
          <p:cNvPr id="5" name="Billede 4" descr="Et billede, der indeholder tekst, skærmbillede, software, Webside&#10;&#10;Automatisk genereret beskrivelse">
            <a:extLst>
              <a:ext uri="{FF2B5EF4-FFF2-40B4-BE49-F238E27FC236}">
                <a16:creationId xmlns:a16="http://schemas.microsoft.com/office/drawing/2014/main" id="{64785F9A-89F3-1D6B-1225-1664FE28DB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94" y="1447800"/>
            <a:ext cx="10273454" cy="4544162"/>
          </a:xfrm>
          <a:prstGeom prst="rect">
            <a:avLst/>
          </a:prstGeom>
        </p:spPr>
      </p:pic>
    </p:spTree>
    <p:extLst>
      <p:ext uri="{BB962C8B-B14F-4D97-AF65-F5344CB8AC3E}">
        <p14:creationId xmlns:p14="http://schemas.microsoft.com/office/powerpoint/2010/main" val="933587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rotWithShape="1">
          <a:blip r:embed="rId2" cstate="print"/>
          <a:srcRect r="67971" b="47034"/>
          <a:stretch/>
        </p:blipFill>
        <p:spPr>
          <a:xfrm>
            <a:off x="306227" y="228601"/>
            <a:ext cx="836774" cy="533399"/>
          </a:xfrm>
          <a:prstGeom prst="rect">
            <a:avLst/>
          </a:prstGeom>
        </p:spPr>
      </p:pic>
      <p:pic>
        <p:nvPicPr>
          <p:cNvPr id="4" name="Billede 3" descr="Et billede, der indeholder tekst, nummer/tal, Font/skrifttype, kvittering&#10;&#10;Automatisk genereret beskrivelse">
            <a:extLst>
              <a:ext uri="{FF2B5EF4-FFF2-40B4-BE49-F238E27FC236}">
                <a16:creationId xmlns:a16="http://schemas.microsoft.com/office/drawing/2014/main" id="{17DE6ECD-F28D-25C4-017F-5721E4942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900" y="503538"/>
            <a:ext cx="8458200" cy="2819400"/>
          </a:xfrm>
          <a:prstGeom prst="rect">
            <a:avLst/>
          </a:prstGeom>
        </p:spPr>
      </p:pic>
    </p:spTree>
    <p:extLst>
      <p:ext uri="{BB962C8B-B14F-4D97-AF65-F5344CB8AC3E}">
        <p14:creationId xmlns:p14="http://schemas.microsoft.com/office/powerpoint/2010/main" val="2740525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357" y="1447800"/>
            <a:ext cx="9903461" cy="689932"/>
          </a:xfrm>
          <a:prstGeom prst="rect">
            <a:avLst/>
          </a:prstGeom>
        </p:spPr>
        <p:txBody>
          <a:bodyPr vert="horz" wrap="square" lIns="0" tIns="12700" rIns="0" bIns="0" rtlCol="0">
            <a:spAutoFit/>
          </a:bodyPr>
          <a:lstStyle/>
          <a:p>
            <a:pPr marL="12700">
              <a:lnSpc>
                <a:spcPct val="100000"/>
              </a:lnSpc>
              <a:spcBef>
                <a:spcPts val="100"/>
              </a:spcBef>
            </a:pPr>
            <a:r>
              <a:rPr sz="4400" spc="-20" dirty="0"/>
              <a:t>Data-retrieval</a:t>
            </a:r>
            <a:r>
              <a:rPr sz="4400" spc="-5" dirty="0"/>
              <a:t> CASE:</a:t>
            </a:r>
            <a:r>
              <a:rPr sz="4400" spc="-20" dirty="0"/>
              <a:t> </a:t>
            </a:r>
            <a:r>
              <a:rPr lang="da-DK" sz="4400" spc="-35" dirty="0"/>
              <a:t>EU’s unge mødre</a:t>
            </a:r>
            <a:endParaRPr sz="4400"/>
          </a:p>
        </p:txBody>
      </p:sp>
      <p:pic>
        <p:nvPicPr>
          <p:cNvPr id="3" name="object 3"/>
          <p:cNvPicPr/>
          <p:nvPr/>
        </p:nvPicPr>
        <p:blipFill>
          <a:blip r:embed="rId2" cstate="print"/>
          <a:stretch>
            <a:fillRect/>
          </a:stretch>
        </p:blipFill>
        <p:spPr>
          <a:xfrm>
            <a:off x="381000" y="314561"/>
            <a:ext cx="2612559" cy="1007075"/>
          </a:xfrm>
          <a:prstGeom prst="rect">
            <a:avLst/>
          </a:prstGeom>
        </p:spPr>
      </p:pic>
      <p:sp>
        <p:nvSpPr>
          <p:cNvPr id="4" name="object 4"/>
          <p:cNvSpPr txBox="1"/>
          <p:nvPr/>
        </p:nvSpPr>
        <p:spPr>
          <a:xfrm>
            <a:off x="393357" y="2276253"/>
            <a:ext cx="6864984" cy="846386"/>
          </a:xfrm>
          <a:prstGeom prst="rect">
            <a:avLst/>
          </a:prstGeom>
        </p:spPr>
        <p:txBody>
          <a:bodyPr vert="horz" wrap="square" lIns="0" tIns="12700" rIns="0" bIns="0" rtlCol="0">
            <a:spAutoFit/>
          </a:bodyPr>
          <a:lstStyle/>
          <a:p>
            <a:pPr marL="355600" indent="-342900">
              <a:lnSpc>
                <a:spcPts val="2125"/>
              </a:lnSpc>
              <a:spcBef>
                <a:spcPts val="100"/>
              </a:spcBef>
              <a:buAutoNum type="arabicPeriod"/>
              <a:tabLst>
                <a:tab pos="354965" algn="l"/>
                <a:tab pos="355600" algn="l"/>
              </a:tabLst>
            </a:pPr>
            <a:r>
              <a:rPr lang="da-DK" sz="1800" spc="-5" dirty="0">
                <a:latin typeface="Calibri"/>
                <a:cs typeface="Calibri"/>
              </a:rPr>
              <a:t>Find tabel om fødsler</a:t>
            </a:r>
          </a:p>
          <a:p>
            <a:pPr marL="355600" indent="-342900">
              <a:lnSpc>
                <a:spcPts val="2125"/>
              </a:lnSpc>
              <a:spcBef>
                <a:spcPts val="100"/>
              </a:spcBef>
              <a:buAutoNum type="arabicPeriod"/>
              <a:tabLst>
                <a:tab pos="354965" algn="l"/>
                <a:tab pos="355600" algn="l"/>
              </a:tabLst>
            </a:pPr>
            <a:r>
              <a:rPr lang="da-DK" spc="-5" dirty="0">
                <a:latin typeface="Calibri"/>
                <a:cs typeface="Calibri"/>
              </a:rPr>
              <a:t>Eksperimenter med filtre</a:t>
            </a:r>
          </a:p>
          <a:p>
            <a:pPr marL="812800" lvl="1" indent="-342900">
              <a:lnSpc>
                <a:spcPts val="2125"/>
              </a:lnSpc>
              <a:spcBef>
                <a:spcPts val="100"/>
              </a:spcBef>
              <a:buAutoNum type="arabicPeriod"/>
              <a:tabLst>
                <a:tab pos="354965" algn="l"/>
                <a:tab pos="355600" algn="l"/>
              </a:tabLst>
            </a:pPr>
            <a:r>
              <a:rPr lang="da-DK">
                <a:latin typeface="Calibri"/>
                <a:cs typeface="Calibri"/>
              </a:rPr>
              <a:t>Kig i koden</a:t>
            </a:r>
            <a:endParaRPr>
              <a:latin typeface="Calibri"/>
              <a:cs typeface="Calibri"/>
            </a:endParaRPr>
          </a:p>
        </p:txBody>
      </p:sp>
      <p:pic>
        <p:nvPicPr>
          <p:cNvPr id="8" name="Billede 7" descr="Et billede, der indeholder tekst, skærmbillede, nummer/tal, Font/skrifttype&#10;&#10;Automatisk genereret beskrivelse">
            <a:extLst>
              <a:ext uri="{FF2B5EF4-FFF2-40B4-BE49-F238E27FC236}">
                <a16:creationId xmlns:a16="http://schemas.microsoft.com/office/drawing/2014/main" id="{D8B4D59E-FDD5-1DC3-7361-817D12AE8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0973" y="2296848"/>
            <a:ext cx="4800600" cy="3746500"/>
          </a:xfrm>
          <a:prstGeom prst="rect">
            <a:avLst/>
          </a:prstGeom>
        </p:spPr>
      </p:pic>
      <p:sp>
        <p:nvSpPr>
          <p:cNvPr id="10" name="Tekstfelt 9">
            <a:extLst>
              <a:ext uri="{FF2B5EF4-FFF2-40B4-BE49-F238E27FC236}">
                <a16:creationId xmlns:a16="http://schemas.microsoft.com/office/drawing/2014/main" id="{D915325D-D482-6A17-61D9-472496827A4E}"/>
              </a:ext>
            </a:extLst>
          </p:cNvPr>
          <p:cNvSpPr txBox="1"/>
          <p:nvPr/>
        </p:nvSpPr>
        <p:spPr>
          <a:xfrm>
            <a:off x="2438400" y="3429000"/>
            <a:ext cx="4342370" cy="2031325"/>
          </a:xfrm>
          <a:prstGeom prst="rect">
            <a:avLst/>
          </a:prstGeom>
          <a:noFill/>
        </p:spPr>
        <p:txBody>
          <a:bodyPr wrap="square">
            <a:spAutoFit/>
          </a:bodyPr>
          <a:lstStyle/>
          <a:p>
            <a:r>
              <a:rPr lang="da-DK"/>
              <a:t>#' dd &lt;- get_eurostat("nama_10_gdp",</a:t>
            </a:r>
          </a:p>
          <a:p>
            <a:r>
              <a:rPr lang="da-DK"/>
              <a:t>#'   filters = list(</a:t>
            </a:r>
          </a:p>
          <a:p>
            <a:r>
              <a:rPr lang="da-DK"/>
              <a:t>#'     geo = "FI",</a:t>
            </a:r>
          </a:p>
          <a:p>
            <a:r>
              <a:rPr lang="da-DK"/>
              <a:t>#'     na_item = "B1GQ",</a:t>
            </a:r>
          </a:p>
          <a:p>
            <a:r>
              <a:rPr lang="da-DK"/>
              <a:t>#'     unit = "CLV_I10"</a:t>
            </a:r>
          </a:p>
          <a:p>
            <a:r>
              <a:rPr lang="da-DK"/>
              <a:t>#'   )</a:t>
            </a:r>
          </a:p>
          <a:p>
            <a:r>
              <a:rPr lang="da-DK"/>
              <a:t>#' )</a:t>
            </a:r>
          </a:p>
        </p:txBody>
      </p:sp>
      <mc:AlternateContent xmlns:mc="http://schemas.openxmlformats.org/markup-compatibility/2006" xmlns:p14="http://schemas.microsoft.com/office/powerpoint/2010/main">
        <mc:Choice Requires="p14">
          <p:contentPart p14:bwMode="auto" r:id="rId4">
            <p14:nvContentPartPr>
              <p14:cNvPr id="11" name="Håndskrift 10">
                <a:extLst>
                  <a:ext uri="{FF2B5EF4-FFF2-40B4-BE49-F238E27FC236}">
                    <a16:creationId xmlns:a16="http://schemas.microsoft.com/office/drawing/2014/main" id="{E75697ED-274B-C945-A054-21B4C0E7B9D0}"/>
                  </a:ext>
                </a:extLst>
              </p14:cNvPr>
              <p14:cNvContentPartPr/>
              <p14:nvPr/>
            </p14:nvContentPartPr>
            <p14:xfrm>
              <a:off x="2923774" y="4244390"/>
              <a:ext cx="403200" cy="52560"/>
            </p14:xfrm>
          </p:contentPart>
        </mc:Choice>
        <mc:Fallback xmlns="">
          <p:pic>
            <p:nvPicPr>
              <p:cNvPr id="11" name="Håndskrift 10">
                <a:extLst>
                  <a:ext uri="{FF2B5EF4-FFF2-40B4-BE49-F238E27FC236}">
                    <a16:creationId xmlns:a16="http://schemas.microsoft.com/office/drawing/2014/main" id="{E75697ED-274B-C945-A054-21B4C0E7B9D0}"/>
                  </a:ext>
                </a:extLst>
              </p:cNvPr>
              <p:cNvPicPr/>
              <p:nvPr/>
            </p:nvPicPr>
            <p:blipFill>
              <a:blip r:embed="rId5"/>
              <a:stretch>
                <a:fillRect/>
              </a:stretch>
            </p:blipFill>
            <p:spPr>
              <a:xfrm>
                <a:off x="2919454" y="4240070"/>
                <a:ext cx="4118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Håndskrift 11">
                <a:extLst>
                  <a:ext uri="{FF2B5EF4-FFF2-40B4-BE49-F238E27FC236}">
                    <a16:creationId xmlns:a16="http://schemas.microsoft.com/office/drawing/2014/main" id="{962EA09F-CBFE-EFF4-0456-21B729E885F5}"/>
                  </a:ext>
                </a:extLst>
              </p14:cNvPr>
              <p14:cNvContentPartPr/>
              <p14:nvPr/>
            </p14:nvContentPartPr>
            <p14:xfrm>
              <a:off x="4273774" y="2468150"/>
              <a:ext cx="5151600" cy="1745280"/>
            </p14:xfrm>
          </p:contentPart>
        </mc:Choice>
        <mc:Fallback xmlns="">
          <p:pic>
            <p:nvPicPr>
              <p:cNvPr id="12" name="Håndskrift 11">
                <a:extLst>
                  <a:ext uri="{FF2B5EF4-FFF2-40B4-BE49-F238E27FC236}">
                    <a16:creationId xmlns:a16="http://schemas.microsoft.com/office/drawing/2014/main" id="{962EA09F-CBFE-EFF4-0456-21B729E885F5}"/>
                  </a:ext>
                </a:extLst>
              </p:cNvPr>
              <p:cNvPicPr/>
              <p:nvPr/>
            </p:nvPicPr>
            <p:blipFill>
              <a:blip r:embed="rId7"/>
              <a:stretch>
                <a:fillRect/>
              </a:stretch>
            </p:blipFill>
            <p:spPr>
              <a:xfrm>
                <a:off x="4269454" y="2463830"/>
                <a:ext cx="5160240" cy="1753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Håndskrift 12">
                <a:extLst>
                  <a:ext uri="{FF2B5EF4-FFF2-40B4-BE49-F238E27FC236}">
                    <a16:creationId xmlns:a16="http://schemas.microsoft.com/office/drawing/2014/main" id="{4A73CF3A-0889-72E8-F92E-1B8320961D2F}"/>
                  </a:ext>
                </a:extLst>
              </p14:cNvPr>
              <p14:cNvContentPartPr/>
              <p14:nvPr/>
            </p14:nvContentPartPr>
            <p14:xfrm>
              <a:off x="4823854" y="2545190"/>
              <a:ext cx="3771000" cy="2018520"/>
            </p14:xfrm>
          </p:contentPart>
        </mc:Choice>
        <mc:Fallback xmlns="">
          <p:pic>
            <p:nvPicPr>
              <p:cNvPr id="13" name="Håndskrift 12">
                <a:extLst>
                  <a:ext uri="{FF2B5EF4-FFF2-40B4-BE49-F238E27FC236}">
                    <a16:creationId xmlns:a16="http://schemas.microsoft.com/office/drawing/2014/main" id="{4A73CF3A-0889-72E8-F92E-1B8320961D2F}"/>
                  </a:ext>
                </a:extLst>
              </p:cNvPr>
              <p:cNvPicPr/>
              <p:nvPr/>
            </p:nvPicPr>
            <p:blipFill>
              <a:blip r:embed="rId9"/>
              <a:stretch>
                <a:fillRect/>
              </a:stretch>
            </p:blipFill>
            <p:spPr>
              <a:xfrm>
                <a:off x="4819534" y="2540870"/>
                <a:ext cx="3779640" cy="2027160"/>
              </a:xfrm>
              <a:prstGeom prst="rect">
                <a:avLst/>
              </a:prstGeom>
            </p:spPr>
          </p:pic>
        </mc:Fallback>
      </mc:AlternateContent>
    </p:spTree>
    <p:extLst>
      <p:ext uri="{BB962C8B-B14F-4D97-AF65-F5344CB8AC3E}">
        <p14:creationId xmlns:p14="http://schemas.microsoft.com/office/powerpoint/2010/main" val="932080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Billede 4" descr="Et billede, der indeholder diagram, linje/række, Kurve, skærmbillede&#10;&#10;Automatisk genereret beskrivelse">
            <a:extLst>
              <a:ext uri="{FF2B5EF4-FFF2-40B4-BE49-F238E27FC236}">
                <a16:creationId xmlns:a16="http://schemas.microsoft.com/office/drawing/2014/main" id="{B8534F5F-5C62-4660-91D7-4CB948DBB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9968" y="1882346"/>
            <a:ext cx="5781646" cy="4061254"/>
          </a:xfrm>
          <a:prstGeom prst="rect">
            <a:avLst/>
          </a:prstGeom>
        </p:spPr>
      </p:pic>
      <p:pic>
        <p:nvPicPr>
          <p:cNvPr id="7" name="Billede 6" descr="Et billede, der indeholder skærmbillede, Kurve, diagram, linje/række&#10;&#10;Automatisk genereret beskrivelse">
            <a:extLst>
              <a:ext uri="{FF2B5EF4-FFF2-40B4-BE49-F238E27FC236}">
                <a16:creationId xmlns:a16="http://schemas.microsoft.com/office/drawing/2014/main" id="{3BCBD81F-4E3F-C2E1-ED93-463144D4F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226" y="1917357"/>
            <a:ext cx="5818500" cy="3950043"/>
          </a:xfrm>
          <a:prstGeom prst="rect">
            <a:avLst/>
          </a:prstGeom>
        </p:spPr>
      </p:pic>
      <p:pic>
        <p:nvPicPr>
          <p:cNvPr id="8" name="object 3">
            <a:extLst>
              <a:ext uri="{FF2B5EF4-FFF2-40B4-BE49-F238E27FC236}">
                <a16:creationId xmlns:a16="http://schemas.microsoft.com/office/drawing/2014/main" id="{FCBAA564-FF3C-D3E2-9943-B31D3419AD03}"/>
              </a:ext>
            </a:extLst>
          </p:cNvPr>
          <p:cNvPicPr/>
          <p:nvPr/>
        </p:nvPicPr>
        <p:blipFill rotWithShape="1">
          <a:blip r:embed="rId4" cstate="print"/>
          <a:srcRect r="67971" b="47034"/>
          <a:stretch/>
        </p:blipFill>
        <p:spPr>
          <a:xfrm>
            <a:off x="306226" y="228601"/>
            <a:ext cx="912973" cy="597524"/>
          </a:xfrm>
          <a:prstGeom prst="rect">
            <a:avLst/>
          </a:prstGeom>
        </p:spPr>
      </p:pic>
      <p:sp>
        <p:nvSpPr>
          <p:cNvPr id="9" name="Tekstfelt 8">
            <a:extLst>
              <a:ext uri="{FF2B5EF4-FFF2-40B4-BE49-F238E27FC236}">
                <a16:creationId xmlns:a16="http://schemas.microsoft.com/office/drawing/2014/main" id="{96D17B44-FB42-1425-9C97-26AFDC2EF6D6}"/>
              </a:ext>
            </a:extLst>
          </p:cNvPr>
          <p:cNvSpPr txBox="1"/>
          <p:nvPr/>
        </p:nvSpPr>
        <p:spPr>
          <a:xfrm>
            <a:off x="1600200" y="342697"/>
            <a:ext cx="1660711" cy="369332"/>
          </a:xfrm>
          <a:prstGeom prst="rect">
            <a:avLst/>
          </a:prstGeom>
          <a:noFill/>
        </p:spPr>
        <p:txBody>
          <a:bodyPr wrap="none" rtlCol="0">
            <a:spAutoFit/>
          </a:bodyPr>
          <a:lstStyle/>
          <a:p>
            <a:r>
              <a:rPr lang="da-DK"/>
              <a:t>demo_fordagec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5E080B-E325-1FC3-4D62-2E23A1153032}"/>
            </a:ext>
          </a:extLst>
        </p:cNvPr>
        <p:cNvGrpSpPr/>
        <p:nvPr/>
      </p:nvGrpSpPr>
      <p:grpSpPr>
        <a:xfrm>
          <a:off x="0" y="0"/>
          <a:ext cx="0" cy="0"/>
          <a:chOff x="0" y="0"/>
          <a:chExt cx="0" cy="0"/>
        </a:xfrm>
      </p:grpSpPr>
      <p:pic>
        <p:nvPicPr>
          <p:cNvPr id="8" name="object 3">
            <a:extLst>
              <a:ext uri="{FF2B5EF4-FFF2-40B4-BE49-F238E27FC236}">
                <a16:creationId xmlns:a16="http://schemas.microsoft.com/office/drawing/2014/main" id="{F0D84C6C-B8F2-40A2-5078-FA4514619A05}"/>
              </a:ext>
            </a:extLst>
          </p:cNvPr>
          <p:cNvPicPr/>
          <p:nvPr/>
        </p:nvPicPr>
        <p:blipFill rotWithShape="1">
          <a:blip r:embed="rId2" cstate="print"/>
          <a:srcRect r="67971" b="47034"/>
          <a:stretch/>
        </p:blipFill>
        <p:spPr>
          <a:xfrm>
            <a:off x="306226" y="228601"/>
            <a:ext cx="912973" cy="597524"/>
          </a:xfrm>
          <a:prstGeom prst="rect">
            <a:avLst/>
          </a:prstGeom>
        </p:spPr>
      </p:pic>
      <p:sp>
        <p:nvSpPr>
          <p:cNvPr id="9" name="Tekstfelt 8">
            <a:extLst>
              <a:ext uri="{FF2B5EF4-FFF2-40B4-BE49-F238E27FC236}">
                <a16:creationId xmlns:a16="http://schemas.microsoft.com/office/drawing/2014/main" id="{8B1A038F-B045-D2C6-7486-68A6BE457771}"/>
              </a:ext>
            </a:extLst>
          </p:cNvPr>
          <p:cNvSpPr txBox="1"/>
          <p:nvPr/>
        </p:nvSpPr>
        <p:spPr>
          <a:xfrm>
            <a:off x="1219199" y="1028820"/>
            <a:ext cx="9906000" cy="2031325"/>
          </a:xfrm>
          <a:prstGeom prst="rect">
            <a:avLst/>
          </a:prstGeom>
          <a:noFill/>
        </p:spPr>
        <p:txBody>
          <a:bodyPr wrap="square" rtlCol="0">
            <a:spAutoFit/>
          </a:bodyPr>
          <a:lstStyle/>
          <a:p>
            <a:pPr marL="342900" indent="-342900">
              <a:buFont typeface="+mj-lt"/>
              <a:buAutoNum type="arabicPeriod"/>
            </a:pPr>
            <a:r>
              <a:rPr lang="da-DK"/>
              <a:t>Der er noget helt galt med mit plot (ud over at det plot-teknisk er dårligt). Hvad er det?</a:t>
            </a:r>
          </a:p>
          <a:p>
            <a:pPr marL="342900" indent="-342900">
              <a:buFont typeface="+mj-lt"/>
              <a:buAutoNum type="arabicPeriod"/>
            </a:pPr>
            <a:r>
              <a:rPr lang="da-DK"/>
              <a:t>Hvilken tabel skal I hente for at kunne genskabe plottet ”Teen moms” fra mit slide ovenfor?</a:t>
            </a:r>
          </a:p>
          <a:p>
            <a:pPr marL="342900" indent="-342900">
              <a:buFont typeface="+mj-lt"/>
              <a:buAutoNum type="arabicPeriod"/>
            </a:pPr>
            <a:r>
              <a:rPr lang="da-DK"/>
              <a:t>Find en tabel i Eurostat som kan vise fordelingen af teen-moms i de tyske hovedregioner. Sørg for at tjekke metadata inden (get_eurostat_dsd) så I ved hvilke variabler og hvilke værdier I har adgang til.</a:t>
            </a:r>
          </a:p>
          <a:p>
            <a:pPr marL="342900" indent="-342900">
              <a:buFont typeface="+mj-lt"/>
              <a:buAutoNum type="arabicPeriod"/>
            </a:pPr>
            <a:r>
              <a:rPr lang="da-DK"/>
              <a:t>Find en anden kilde i Eurostat hvor I kan trække navnene på NUTS-koderne så de kan bruges i plottet. Det vil sige at I skal merge to data-kilder.</a:t>
            </a:r>
          </a:p>
          <a:p>
            <a:pPr marL="342900" indent="-342900">
              <a:buFont typeface="+mj-lt"/>
              <a:buAutoNum type="arabicPeriod"/>
            </a:pPr>
            <a:endParaRPr lang="da-DK"/>
          </a:p>
        </p:txBody>
      </p:sp>
      <p:pic>
        <p:nvPicPr>
          <p:cNvPr id="6" name="Billede 5" descr="Et billede, der indeholder tekst, skærmbillede, diagram, Kurve&#10;&#10;Automatisk genereret beskrivelse">
            <a:extLst>
              <a:ext uri="{FF2B5EF4-FFF2-40B4-BE49-F238E27FC236}">
                <a16:creationId xmlns:a16="http://schemas.microsoft.com/office/drawing/2014/main" id="{3B17D94B-CB7C-023D-C3B6-C36CF3A9B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794119"/>
            <a:ext cx="4750022" cy="2679700"/>
          </a:xfrm>
          <a:prstGeom prst="rect">
            <a:avLst/>
          </a:prstGeom>
        </p:spPr>
      </p:pic>
      <p:pic>
        <p:nvPicPr>
          <p:cNvPr id="11" name="Billede 10" descr="Et billede, der indeholder diagram, linje/række, Kurve&#10;&#10;Automatisk genereret beskrivelse">
            <a:extLst>
              <a:ext uri="{FF2B5EF4-FFF2-40B4-BE49-F238E27FC236}">
                <a16:creationId xmlns:a16="http://schemas.microsoft.com/office/drawing/2014/main" id="{D0CDCB9D-5D4B-F1E1-7257-E3441D9E67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3200" y="3750576"/>
            <a:ext cx="3098800" cy="2766786"/>
          </a:xfrm>
          <a:prstGeom prst="rect">
            <a:avLst/>
          </a:prstGeom>
        </p:spPr>
      </p:pic>
      <p:sp>
        <p:nvSpPr>
          <p:cNvPr id="12" name="Tekstfelt 11">
            <a:extLst>
              <a:ext uri="{FF2B5EF4-FFF2-40B4-BE49-F238E27FC236}">
                <a16:creationId xmlns:a16="http://schemas.microsoft.com/office/drawing/2014/main" id="{F987BE6C-B630-5A0B-E010-9BE39537624C}"/>
              </a:ext>
            </a:extLst>
          </p:cNvPr>
          <p:cNvSpPr txBox="1"/>
          <p:nvPr/>
        </p:nvSpPr>
        <p:spPr>
          <a:xfrm>
            <a:off x="1219199" y="228601"/>
            <a:ext cx="3886201" cy="800219"/>
          </a:xfrm>
          <a:prstGeom prst="rect">
            <a:avLst/>
          </a:prstGeom>
          <a:noFill/>
        </p:spPr>
        <p:txBody>
          <a:bodyPr wrap="square" rtlCol="0">
            <a:spAutoFit/>
          </a:bodyPr>
          <a:lstStyle/>
          <a:p>
            <a:r>
              <a:rPr lang="da-DK" sz="2800">
                <a:solidFill>
                  <a:schemeClr val="accent6"/>
                </a:solidFill>
              </a:rPr>
              <a:t>Teen moms in Germany</a:t>
            </a:r>
          </a:p>
          <a:p>
            <a:endParaRPr lang="da-DK"/>
          </a:p>
        </p:txBody>
      </p:sp>
      <p:sp>
        <p:nvSpPr>
          <p:cNvPr id="13" name="Tekstfelt 12">
            <a:extLst>
              <a:ext uri="{FF2B5EF4-FFF2-40B4-BE49-F238E27FC236}">
                <a16:creationId xmlns:a16="http://schemas.microsoft.com/office/drawing/2014/main" id="{7871B41C-ECDA-6DF1-A9A2-4DBF972E1244}"/>
              </a:ext>
            </a:extLst>
          </p:cNvPr>
          <p:cNvSpPr txBox="1"/>
          <p:nvPr/>
        </p:nvSpPr>
        <p:spPr>
          <a:xfrm>
            <a:off x="1052623" y="4965405"/>
            <a:ext cx="184731" cy="369332"/>
          </a:xfrm>
          <a:prstGeom prst="rect">
            <a:avLst/>
          </a:prstGeom>
          <a:noFill/>
        </p:spPr>
        <p:txBody>
          <a:bodyPr wrap="none" rtlCol="0">
            <a:spAutoFit/>
          </a:bodyPr>
          <a:lstStyle/>
          <a:p>
            <a:pPr algn="l" rtl="0"/>
            <a:endParaRPr lang="da-DK"/>
          </a:p>
        </p:txBody>
      </p:sp>
    </p:spTree>
    <p:extLst>
      <p:ext uri="{BB962C8B-B14F-4D97-AF65-F5344CB8AC3E}">
        <p14:creationId xmlns:p14="http://schemas.microsoft.com/office/powerpoint/2010/main" val="2024259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B003CCB-8028-B4B6-142E-9CC3149CAFD6}"/>
            </a:ext>
          </a:extLst>
        </p:cNvPr>
        <p:cNvGrpSpPr/>
        <p:nvPr/>
      </p:nvGrpSpPr>
      <p:grpSpPr>
        <a:xfrm>
          <a:off x="0" y="0"/>
          <a:ext cx="0" cy="0"/>
          <a:chOff x="0" y="0"/>
          <a:chExt cx="0" cy="0"/>
        </a:xfrm>
      </p:grpSpPr>
      <p:pic>
        <p:nvPicPr>
          <p:cNvPr id="8" name="object 3">
            <a:extLst>
              <a:ext uri="{FF2B5EF4-FFF2-40B4-BE49-F238E27FC236}">
                <a16:creationId xmlns:a16="http://schemas.microsoft.com/office/drawing/2014/main" id="{8190956C-FABB-6662-825D-58404871BEBD}"/>
              </a:ext>
            </a:extLst>
          </p:cNvPr>
          <p:cNvPicPr/>
          <p:nvPr/>
        </p:nvPicPr>
        <p:blipFill rotWithShape="1">
          <a:blip r:embed="rId2" cstate="print"/>
          <a:srcRect r="67971" b="47034"/>
          <a:stretch/>
        </p:blipFill>
        <p:spPr>
          <a:xfrm>
            <a:off x="306226" y="228601"/>
            <a:ext cx="912973" cy="597524"/>
          </a:xfrm>
          <a:prstGeom prst="rect">
            <a:avLst/>
          </a:prstGeom>
        </p:spPr>
      </p:pic>
      <p:sp>
        <p:nvSpPr>
          <p:cNvPr id="9" name="Tekstfelt 8">
            <a:extLst>
              <a:ext uri="{FF2B5EF4-FFF2-40B4-BE49-F238E27FC236}">
                <a16:creationId xmlns:a16="http://schemas.microsoft.com/office/drawing/2014/main" id="{D4960179-3F0C-59C9-72E0-82ADFA2E955B}"/>
              </a:ext>
            </a:extLst>
          </p:cNvPr>
          <p:cNvSpPr txBox="1"/>
          <p:nvPr/>
        </p:nvSpPr>
        <p:spPr>
          <a:xfrm>
            <a:off x="1600200" y="342697"/>
            <a:ext cx="7419916" cy="646331"/>
          </a:xfrm>
          <a:prstGeom prst="rect">
            <a:avLst/>
          </a:prstGeom>
          <a:noFill/>
        </p:spPr>
        <p:txBody>
          <a:bodyPr wrap="none" rtlCol="0">
            <a:spAutoFit/>
          </a:bodyPr>
          <a:lstStyle/>
          <a:p>
            <a:r>
              <a:rPr lang="da-DK"/>
              <a:t>Find et data-sæt som kan beskrive fordelingen af unge mødre i tyske regioner</a:t>
            </a:r>
          </a:p>
          <a:p>
            <a:pPr marL="342900" indent="-342900">
              <a:buFont typeface="+mj-lt"/>
              <a:buAutoNum type="arabicPeriod"/>
            </a:pPr>
            <a:endParaRPr lang="da-DK"/>
          </a:p>
        </p:txBody>
      </p:sp>
      <p:pic>
        <p:nvPicPr>
          <p:cNvPr id="6" name="Billede 5" descr="Et billede, der indeholder tekst, skærmbillede, diagram, Kurve&#10;&#10;Automatisk genereret beskrivelse">
            <a:extLst>
              <a:ext uri="{FF2B5EF4-FFF2-40B4-BE49-F238E27FC236}">
                <a16:creationId xmlns:a16="http://schemas.microsoft.com/office/drawing/2014/main" id="{E0F92B28-91BC-8BC2-3373-FDE838D01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1447800"/>
            <a:ext cx="7721600" cy="4356100"/>
          </a:xfrm>
          <a:prstGeom prst="rect">
            <a:avLst/>
          </a:prstGeom>
        </p:spPr>
      </p:pic>
    </p:spTree>
    <p:extLst>
      <p:ext uri="{BB962C8B-B14F-4D97-AF65-F5344CB8AC3E}">
        <p14:creationId xmlns:p14="http://schemas.microsoft.com/office/powerpoint/2010/main" val="1906355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6AEF0-8814-713C-DAD2-31A227139739}"/>
            </a:ext>
          </a:extLst>
        </p:cNvPr>
        <p:cNvGrpSpPr/>
        <p:nvPr/>
      </p:nvGrpSpPr>
      <p:grpSpPr>
        <a:xfrm>
          <a:off x="0" y="0"/>
          <a:ext cx="0" cy="0"/>
          <a:chOff x="0" y="0"/>
          <a:chExt cx="0" cy="0"/>
        </a:xfrm>
      </p:grpSpPr>
      <p:pic>
        <p:nvPicPr>
          <p:cNvPr id="8" name="object 3">
            <a:extLst>
              <a:ext uri="{FF2B5EF4-FFF2-40B4-BE49-F238E27FC236}">
                <a16:creationId xmlns:a16="http://schemas.microsoft.com/office/drawing/2014/main" id="{662A238C-BD1D-78A9-1549-99D8CE5BA091}"/>
              </a:ext>
            </a:extLst>
          </p:cNvPr>
          <p:cNvPicPr/>
          <p:nvPr/>
        </p:nvPicPr>
        <p:blipFill rotWithShape="1">
          <a:blip r:embed="rId2" cstate="print"/>
          <a:srcRect r="67971" b="47034"/>
          <a:stretch/>
        </p:blipFill>
        <p:spPr>
          <a:xfrm>
            <a:off x="306226" y="228601"/>
            <a:ext cx="912973" cy="597524"/>
          </a:xfrm>
          <a:prstGeom prst="rect">
            <a:avLst/>
          </a:prstGeom>
        </p:spPr>
      </p:pic>
      <p:sp>
        <p:nvSpPr>
          <p:cNvPr id="9" name="Tekstfelt 8">
            <a:extLst>
              <a:ext uri="{FF2B5EF4-FFF2-40B4-BE49-F238E27FC236}">
                <a16:creationId xmlns:a16="http://schemas.microsoft.com/office/drawing/2014/main" id="{9853C4D2-9D67-6CFE-BFD7-974B4496AF9E}"/>
              </a:ext>
            </a:extLst>
          </p:cNvPr>
          <p:cNvSpPr txBox="1"/>
          <p:nvPr/>
        </p:nvSpPr>
        <p:spPr>
          <a:xfrm>
            <a:off x="1600200" y="342697"/>
            <a:ext cx="7419916" cy="646331"/>
          </a:xfrm>
          <a:prstGeom prst="rect">
            <a:avLst/>
          </a:prstGeom>
          <a:noFill/>
        </p:spPr>
        <p:txBody>
          <a:bodyPr wrap="none" rtlCol="0">
            <a:spAutoFit/>
          </a:bodyPr>
          <a:lstStyle/>
          <a:p>
            <a:r>
              <a:rPr lang="da-DK"/>
              <a:t>Find et data-sæt som kan beskrive fordelingen af unge mødre i tyske regioner</a:t>
            </a:r>
          </a:p>
          <a:p>
            <a:pPr marL="342900" indent="-342900">
              <a:buFont typeface="+mj-lt"/>
              <a:buAutoNum type="arabicPeriod"/>
            </a:pPr>
            <a:endParaRPr lang="da-DK"/>
          </a:p>
        </p:txBody>
      </p:sp>
      <p:pic>
        <p:nvPicPr>
          <p:cNvPr id="6" name="Billede 5" descr="Et billede, der indeholder tekst, skærmbillede, diagram, Kurve&#10;&#10;Automatisk genereret beskrivelse">
            <a:extLst>
              <a:ext uri="{FF2B5EF4-FFF2-40B4-BE49-F238E27FC236}">
                <a16:creationId xmlns:a16="http://schemas.microsoft.com/office/drawing/2014/main" id="{CE301BC6-B9E1-05DF-48D6-BC5685ABA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1447800"/>
            <a:ext cx="7721600" cy="4356100"/>
          </a:xfrm>
          <a:prstGeom prst="rect">
            <a:avLst/>
          </a:prstGeom>
        </p:spPr>
      </p:pic>
    </p:spTree>
    <p:extLst>
      <p:ext uri="{BB962C8B-B14F-4D97-AF65-F5344CB8AC3E}">
        <p14:creationId xmlns:p14="http://schemas.microsoft.com/office/powerpoint/2010/main" val="67986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lede 2">
            <a:extLst>
              <a:ext uri="{FF2B5EF4-FFF2-40B4-BE49-F238E27FC236}">
                <a16:creationId xmlns:a16="http://schemas.microsoft.com/office/drawing/2014/main" id="{6A493379-446E-F5ED-DE1E-FB7E764A5769}"/>
              </a:ext>
            </a:extLst>
          </p:cNvPr>
          <p:cNvPicPr>
            <a:picLocks noChangeAspect="1"/>
          </p:cNvPicPr>
          <p:nvPr/>
        </p:nvPicPr>
        <p:blipFill>
          <a:blip r:embed="rId2"/>
          <a:stretch>
            <a:fillRect/>
          </a:stretch>
        </p:blipFill>
        <p:spPr>
          <a:xfrm>
            <a:off x="344245" y="1514926"/>
            <a:ext cx="5574852" cy="5166693"/>
          </a:xfrm>
          <a:prstGeom prst="rect">
            <a:avLst/>
          </a:prstGeom>
        </p:spPr>
      </p:pic>
      <p:sp>
        <p:nvSpPr>
          <p:cNvPr id="5" name="Tekstfelt 4">
            <a:extLst>
              <a:ext uri="{FF2B5EF4-FFF2-40B4-BE49-F238E27FC236}">
                <a16:creationId xmlns:a16="http://schemas.microsoft.com/office/drawing/2014/main" id="{2971D279-8833-E84E-0532-978DBE9D97A2}"/>
              </a:ext>
            </a:extLst>
          </p:cNvPr>
          <p:cNvSpPr txBox="1"/>
          <p:nvPr/>
        </p:nvSpPr>
        <p:spPr>
          <a:xfrm>
            <a:off x="6551525" y="904352"/>
            <a:ext cx="3881319" cy="369332"/>
          </a:xfrm>
          <a:prstGeom prst="rect">
            <a:avLst/>
          </a:prstGeom>
          <a:noFill/>
        </p:spPr>
        <p:txBody>
          <a:bodyPr wrap="none" rtlCol="0">
            <a:spAutoFit/>
          </a:bodyPr>
          <a:lstStyle/>
          <a:p>
            <a:r>
              <a:rPr lang="da-DK"/>
              <a:t>Genskab denne graf ud fra </a:t>
            </a:r>
            <a:r>
              <a:rPr lang="da-DK" b="1"/>
              <a:t>nrg_pc_202</a:t>
            </a:r>
            <a:r>
              <a:rPr lang="da-DK"/>
              <a:t> </a:t>
            </a:r>
          </a:p>
        </p:txBody>
      </p:sp>
      <p:sp>
        <p:nvSpPr>
          <p:cNvPr id="6" name="Tekstfelt 5">
            <a:extLst>
              <a:ext uri="{FF2B5EF4-FFF2-40B4-BE49-F238E27FC236}">
                <a16:creationId xmlns:a16="http://schemas.microsoft.com/office/drawing/2014/main" id="{2846FFD4-7772-678D-D4D9-95E49DF00D7A}"/>
              </a:ext>
            </a:extLst>
          </p:cNvPr>
          <p:cNvSpPr txBox="1"/>
          <p:nvPr/>
        </p:nvSpPr>
        <p:spPr>
          <a:xfrm>
            <a:off x="6702251" y="1507253"/>
            <a:ext cx="5265336" cy="2308324"/>
          </a:xfrm>
          <a:prstGeom prst="rect">
            <a:avLst/>
          </a:prstGeom>
          <a:noFill/>
        </p:spPr>
        <p:txBody>
          <a:bodyPr wrap="square" rtlCol="0">
            <a:spAutoFit/>
          </a:bodyPr>
          <a:lstStyle/>
          <a:p>
            <a:pPr marL="342900" indent="-342900">
              <a:buAutoNum type="arabicParenR"/>
            </a:pPr>
            <a:r>
              <a:rPr lang="da-DK"/>
              <a:t>Find data og meta-data via UI</a:t>
            </a:r>
          </a:p>
          <a:p>
            <a:pPr marL="342900" indent="-342900">
              <a:buAutoNum type="arabicParenR"/>
            </a:pPr>
            <a:r>
              <a:rPr lang="da-DK"/>
              <a:t>Hent meta-data via </a:t>
            </a:r>
            <a:r>
              <a:rPr lang="da-DK" b="1">
                <a:solidFill>
                  <a:srgbClr val="1F2328"/>
                </a:solidFill>
                <a:latin typeface="ui-monospace"/>
              </a:rPr>
              <a:t>get_eurostat_dsd</a:t>
            </a:r>
          </a:p>
          <a:p>
            <a:pPr marL="342900" indent="-342900">
              <a:buAutoNum type="arabicParenR"/>
            </a:pPr>
            <a:r>
              <a:rPr lang="da-DK"/>
              <a:t>Undersøg filtreringsmulighederne på </a:t>
            </a:r>
            <a:r>
              <a:rPr lang="da-DK">
                <a:hlinkClick r:id="rId3"/>
              </a:rPr>
              <a:t>https://github.com/eurostat/restatapi</a:t>
            </a:r>
            <a:endParaRPr lang="da-DK"/>
          </a:p>
          <a:p>
            <a:pPr marL="800100" lvl="1" indent="-342900">
              <a:buAutoNum type="arabicParenR"/>
            </a:pPr>
            <a:r>
              <a:rPr lang="da-DK"/>
              <a:t>Hent data fra før 2017, enhed KWH og lande er Danmark og Ungarn</a:t>
            </a:r>
          </a:p>
          <a:p>
            <a:pPr marL="342900" indent="-342900">
              <a:buAutoNum type="arabicParenR"/>
            </a:pPr>
            <a:r>
              <a:rPr lang="da-DK"/>
              <a:t>Hent alle data og filtrer i R så du får noget a la grafen til venstre</a:t>
            </a:r>
          </a:p>
        </p:txBody>
      </p:sp>
      <p:pic>
        <p:nvPicPr>
          <p:cNvPr id="4" name="object 3">
            <a:extLst>
              <a:ext uri="{FF2B5EF4-FFF2-40B4-BE49-F238E27FC236}">
                <a16:creationId xmlns:a16="http://schemas.microsoft.com/office/drawing/2014/main" id="{4AAD5BC5-E5A4-681F-F913-DABE082FB397}"/>
              </a:ext>
            </a:extLst>
          </p:cNvPr>
          <p:cNvPicPr/>
          <p:nvPr/>
        </p:nvPicPr>
        <p:blipFill rotWithShape="1">
          <a:blip r:embed="rId4" cstate="print"/>
          <a:srcRect r="67971" b="47034"/>
          <a:stretch/>
        </p:blipFill>
        <p:spPr>
          <a:xfrm>
            <a:off x="533400" y="306828"/>
            <a:ext cx="912973" cy="597524"/>
          </a:xfrm>
          <a:prstGeom prst="rect">
            <a:avLst/>
          </a:prstGeom>
        </p:spPr>
      </p:pic>
    </p:spTree>
    <p:extLst>
      <p:ext uri="{BB962C8B-B14F-4D97-AF65-F5344CB8AC3E}">
        <p14:creationId xmlns:p14="http://schemas.microsoft.com/office/powerpoint/2010/main" val="2621028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16677</TotalTime>
  <Words>727</Words>
  <Application>Microsoft Macintosh PowerPoint</Application>
  <PresentationFormat>Widescreen</PresentationFormat>
  <Paragraphs>70</Paragraphs>
  <Slides>19</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19</vt:i4>
      </vt:variant>
    </vt:vector>
  </HeadingPairs>
  <TitlesOfParts>
    <vt:vector size="25" baseType="lpstr">
      <vt:lpstr>-apple-system</vt:lpstr>
      <vt:lpstr>ui-monospace</vt:lpstr>
      <vt:lpstr>Calibri</vt:lpstr>
      <vt:lpstr>Calibri Light</vt:lpstr>
      <vt:lpstr>Helvetica</vt:lpstr>
      <vt:lpstr>Office Theme</vt:lpstr>
      <vt:lpstr>Dataanalyse API – recap og Eurostat</vt:lpstr>
      <vt:lpstr>PowerPoint-præsentation</vt:lpstr>
      <vt:lpstr>PowerPoint-præsentation</vt:lpstr>
      <vt:lpstr>PowerPoint-præsentation</vt:lpstr>
      <vt:lpstr>PowerPoint-præsentation</vt:lpstr>
      <vt:lpstr>PowerPoint-præsentation</vt:lpstr>
      <vt:lpstr>PowerPoint-præsentation</vt:lpstr>
      <vt:lpstr>Eurostat De unge mødre</vt:lpstr>
      <vt:lpstr>PowerPoint-præsentation</vt:lpstr>
      <vt:lpstr>Data-retrieval CASE: EU’s unge mødre</vt:lpstr>
      <vt:lpstr>PowerPoint-præsentation</vt:lpstr>
      <vt:lpstr>PowerPoint-præsentation</vt:lpstr>
      <vt:lpstr>PowerPoint-præsentation</vt:lpstr>
      <vt:lpstr>Data-retrieval CASE: EU’s unge mødre</vt:lpstr>
      <vt:lpstr>PowerPoint-præsentation</vt:lpstr>
      <vt:lpstr>PowerPoint-præsentation</vt:lpstr>
      <vt:lpstr>PowerPoint-præsentation</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Dataanalyse API – recap og Eurostat</dc:title>
  <cp:lastModifiedBy>Thorbjørn Wulf</cp:lastModifiedBy>
  <cp:revision>10</cp:revision>
  <cp:lastPrinted>2025-09-29T10:16:45Z</cp:lastPrinted>
  <dcterms:created xsi:type="dcterms:W3CDTF">2023-09-12T08:00:21Z</dcterms:created>
  <dcterms:modified xsi:type="dcterms:W3CDTF">2025-09-29T10:24:20Z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2022-09-20T00:00:00Z</vt:filetime>
  </property>
  <property fmtid="{D5CDD505-2E9C-101B-9397-08002B2CF9AE}" pid="3" name="LastSaved">
    <vt:filetime>2023-09-12T00:00:00Z</vt:filetime>
  </property>
  <property fmtid="{D5CDD505-2E9C-101B-9397-08002B2CF9AE}" pid="4" name="MSIP_Label_defa4170-0d19-0005-0004-bc88714345d2_Enabled">
    <vt:lpwstr>true</vt:lpwstr>
  </property>
  <property fmtid="{D5CDD505-2E9C-101B-9397-08002B2CF9AE}" pid="5" name="MSIP_Label_defa4170-0d19-0005-0004-bc88714345d2_SetDate">
    <vt:lpwstr>2025-09-28T13:32:06Z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9aafd452-b819-40a3-a400-f94ff33b0125</vt:lpwstr>
  </property>
  <property fmtid="{D5CDD505-2E9C-101B-9397-08002B2CF9AE}" pid="9" name="MSIP_Label_defa4170-0d19-0005-0004-bc88714345d2_ActionId">
    <vt:lpwstr>49af64bc-9390-4da4-809e-2460770ceed1</vt:lpwstr>
  </property>
  <property fmtid="{D5CDD505-2E9C-101B-9397-08002B2CF9AE}" pid="10" name="MSIP_Label_defa4170-0d19-0005-0004-bc88714345d2_ContentBits">
    <vt:lpwstr>0</vt:lpwstr>
  </property>
  <property fmtid="{D5CDD505-2E9C-101B-9397-08002B2CF9AE}" pid="11" name="MSIP_Label_defa4170-0d19-0005-0004-bc88714345d2_Tag">
    <vt:lpwstr>50, 3, 0, 1</vt:lpwstr>
  </property>
</Properties>
</file>